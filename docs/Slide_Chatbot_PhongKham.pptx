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6858000"/>
          </a:xfrm>
          <a:prstGeom prst="rect">
            <a:avLst/>
          </a:prstGeom>
          <a:solidFill>
            <a:srgbClr val="8B0000"/>
          </a:solidFill>
          <a:ln/>
        </p:spPr>
      </p:sp>
      <p:sp>
        <p:nvSpPr>
          <p:cNvPr id="3" name="Text 1"/>
          <p:cNvSpPr/>
          <p:nvPr/>
        </p:nvSpPr>
        <p:spPr>
          <a:xfrm>
            <a:off x="457200" y="274320"/>
            <a:ext cx="8229600" cy="914400"/>
          </a:xfrm>
          <a:prstGeom prst="rect">
            <a:avLst/>
          </a:prstGeom>
          <a:noFill/>
          <a:ln/>
        </p:spPr>
        <p:txBody>
          <a:bodyPr wrap="square" rtlCol="0" anchor="ctr"/>
          <a:lstStyle/>
          <a:p>
            <a:pPr algn="ctr" indent="0" marL="0">
              <a:buNone/>
            </a:pPr>
            <a:r>
              <a:rPr lang="en-US" sz="1400" dirty="0">
                <a:solidFill>
                  <a:srgbClr val="FFFFFF"/>
                </a:solidFill>
                <a:latin typeface="Arial" pitchFamily="34" charset="0"/>
                <a:ea typeface="Arial" pitchFamily="34" charset="-122"/>
                <a:cs typeface="Arial" pitchFamily="34" charset="-120"/>
              </a:rPr>
              <a:t>ĐẠI HỌC BÁCH KHOA HÀ NỘI</a:t>
            </a:r>
            <a:endParaRPr lang="en-US" sz="1400" dirty="0"/>
          </a:p>
          <a:p>
            <a:pPr algn="ctr" indent="0" marL="0">
              <a:buNone/>
            </a:pPr>
            <a:r>
              <a:rPr lang="en-US" sz="1400" dirty="0">
                <a:solidFill>
                  <a:srgbClr val="FFFFFF"/>
                </a:solidFill>
                <a:latin typeface="Arial" pitchFamily="34" charset="0"/>
                <a:ea typeface="Arial" pitchFamily="34" charset="-122"/>
                <a:cs typeface="Arial" pitchFamily="34" charset="-120"/>
              </a:rPr>
              <a:t>Viện Công nghệ Thông tin và Truyền thông</a:t>
            </a:r>
            <a:endParaRPr lang="en-US" sz="1400" dirty="0"/>
          </a:p>
        </p:txBody>
      </p:sp>
      <p:sp>
        <p:nvSpPr>
          <p:cNvPr id="4" name="Text 2"/>
          <p:cNvSpPr/>
          <p:nvPr/>
        </p:nvSpPr>
        <p:spPr>
          <a:xfrm>
            <a:off x="457200" y="1645920"/>
            <a:ext cx="8229600" cy="914400"/>
          </a:xfrm>
          <a:prstGeom prst="rect">
            <a:avLst/>
          </a:prstGeom>
          <a:noFill/>
          <a:ln/>
        </p:spPr>
        <p:txBody>
          <a:bodyPr wrap="square" rtlCol="0" anchor="ctr"/>
          <a:lstStyle/>
          <a:p>
            <a:pPr algn="ctr" indent="0" marL="0">
              <a:buNone/>
            </a:pPr>
            <a:r>
              <a:rPr lang="en-US" sz="2800" b="1" dirty="0">
                <a:solidFill>
                  <a:srgbClr val="FFFFFF"/>
                </a:solidFill>
                <a:latin typeface="Arial" pitchFamily="34" charset="0"/>
                <a:ea typeface="Arial" pitchFamily="34" charset="-122"/>
                <a:cs typeface="Arial" pitchFamily="34" charset="-120"/>
              </a:rPr>
              <a:t>CHATBOT PHÒNG KHÁM GIA ĐÌNH</a:t>
            </a:r>
            <a:endParaRPr lang="en-US" sz="2800" dirty="0"/>
          </a:p>
        </p:txBody>
      </p:sp>
      <p:sp>
        <p:nvSpPr>
          <p:cNvPr id="5" name="Text 3"/>
          <p:cNvSpPr/>
          <p:nvPr/>
        </p:nvSpPr>
        <p:spPr>
          <a:xfrm>
            <a:off x="457200" y="2743200"/>
            <a:ext cx="8229600" cy="457200"/>
          </a:xfrm>
          <a:prstGeom prst="rect">
            <a:avLst/>
          </a:prstGeom>
          <a:noFill/>
          <a:ln/>
        </p:spPr>
        <p:txBody>
          <a:bodyPr wrap="square" rtlCol="0" anchor="ctr"/>
          <a:lstStyle/>
          <a:p>
            <a:pPr algn="ctr" indent="0" marL="0">
              <a:buNone/>
            </a:pPr>
            <a:r>
              <a:rPr lang="en-US" sz="1600" dirty="0">
                <a:solidFill>
                  <a:srgbClr val="FFFFFF"/>
                </a:solidFill>
                <a:latin typeface="Arial" pitchFamily="34" charset="0"/>
                <a:ea typeface="Arial" pitchFamily="34" charset="-122"/>
                <a:cs typeface="Arial" pitchFamily="34" charset="-120"/>
              </a:rPr>
              <a:t>Môn: Phương pháp Agile và Tư duy Thiết kế</a:t>
            </a:r>
            <a:endParaRPr lang="en-US" sz="1600" dirty="0"/>
          </a:p>
        </p:txBody>
      </p:sp>
      <p:sp>
        <p:nvSpPr>
          <p:cNvPr id="6" name="Text 4"/>
          <p:cNvSpPr/>
          <p:nvPr/>
        </p:nvSpPr>
        <p:spPr>
          <a:xfrm>
            <a:off x="457200" y="3657600"/>
            <a:ext cx="8229600" cy="457200"/>
          </a:xfrm>
          <a:prstGeom prst="rect">
            <a:avLst/>
          </a:prstGeom>
          <a:noFill/>
          <a:ln/>
        </p:spPr>
        <p:txBody>
          <a:bodyPr wrap="square" rtlCol="0" anchor="ctr"/>
          <a:lstStyle/>
          <a:p>
            <a:pPr algn="ctr" indent="0" marL="0">
              <a:buNone/>
            </a:pPr>
            <a:r>
              <a:rPr lang="en-US" sz="1300" dirty="0">
                <a:solidFill>
                  <a:srgbClr val="FFFFFF"/>
                </a:solidFill>
                <a:latin typeface="Arial" pitchFamily="34" charset="0"/>
                <a:ea typeface="Arial" pitchFamily="34" charset="-122"/>
                <a:cs typeface="Arial" pitchFamily="34" charset="-120"/>
              </a:rPr>
              <a:t>GVHD: TS. Vũ Thị Hương Giang, TS. Trần Nhật Hóa</a:t>
            </a:r>
            <a:endParaRPr lang="en-US" sz="1300" dirty="0"/>
          </a:p>
        </p:txBody>
      </p:sp>
      <p:sp>
        <p:nvSpPr>
          <p:cNvPr id="7" name="Text 5"/>
          <p:cNvSpPr/>
          <p:nvPr/>
        </p:nvSpPr>
        <p:spPr>
          <a:xfrm>
            <a:off x="914400" y="4389120"/>
            <a:ext cx="7315200" cy="1645920"/>
          </a:xfrm>
          <a:prstGeom prst="rect">
            <a:avLst/>
          </a:prstGeom>
          <a:noFill/>
          <a:ln/>
        </p:spPr>
        <p:txBody>
          <a:bodyPr wrap="square" rtlCol="0" anchor="ctr"/>
          <a:lstStyle/>
          <a:p>
            <a:pPr algn="ctr" indent="0" marL="0">
              <a:lnSpc>
                <a:spcPct val="130000"/>
              </a:lnSpc>
              <a:buNone/>
            </a:pPr>
            <a:r>
              <a:rPr lang="en-US" sz="1300" dirty="0">
                <a:solidFill>
                  <a:srgbClr val="FFFFFF"/>
                </a:solidFill>
                <a:latin typeface="Arial" pitchFamily="34" charset="0"/>
                <a:ea typeface="Arial" pitchFamily="34" charset="-122"/>
                <a:cs typeface="Arial" pitchFamily="34" charset="-120"/>
              </a:rPr>
              <a:t>Sinh viên:</a:t>
            </a:r>
            <a:endParaRPr lang="en-US" sz="1300" dirty="0"/>
          </a:p>
          <a:p>
            <a:pPr algn="ctr" indent="0" marL="0">
              <a:lnSpc>
                <a:spcPct val="130000"/>
              </a:lnSpc>
              <a:buNone/>
            </a:pPr>
            <a:r>
              <a:rPr lang="en-US" sz="1300" dirty="0">
                <a:solidFill>
                  <a:srgbClr val="FFFFFF"/>
                </a:solidFill>
                <a:latin typeface="Arial" pitchFamily="34" charset="0"/>
                <a:ea typeface="Arial" pitchFamily="34" charset="-122"/>
                <a:cs typeface="Arial" pitchFamily="34" charset="-120"/>
              </a:rPr>
              <a:t>Nguyễn Đồng Hoàng - 20252737M</a:t>
            </a:r>
            <a:endParaRPr lang="en-US" sz="1300" dirty="0"/>
          </a:p>
          <a:p>
            <a:pPr algn="ctr" indent="0" marL="0">
              <a:lnSpc>
                <a:spcPct val="130000"/>
              </a:lnSpc>
              <a:buNone/>
            </a:pPr>
            <a:r>
              <a:rPr lang="en-US" sz="1300" dirty="0">
                <a:solidFill>
                  <a:srgbClr val="FFFFFF"/>
                </a:solidFill>
                <a:latin typeface="Arial" pitchFamily="34" charset="0"/>
                <a:ea typeface="Arial" pitchFamily="34" charset="-122"/>
                <a:cs typeface="Arial" pitchFamily="34" charset="-120"/>
              </a:rPr>
              <a:t>Phạm Nhật Linh - 20252732M</a:t>
            </a:r>
            <a:endParaRPr lang="en-US" sz="1300" dirty="0"/>
          </a:p>
          <a:p>
            <a:pPr algn="ctr" indent="0" marL="0">
              <a:lnSpc>
                <a:spcPct val="130000"/>
              </a:lnSpc>
              <a:buNone/>
            </a:pPr>
            <a:r>
              <a:rPr lang="en-US" sz="1300" dirty="0">
                <a:solidFill>
                  <a:srgbClr val="FFFFFF"/>
                </a:solidFill>
                <a:latin typeface="Arial" pitchFamily="34" charset="0"/>
                <a:ea typeface="Arial" pitchFamily="34" charset="-122"/>
                <a:cs typeface="Arial" pitchFamily="34" charset="-120"/>
              </a:rPr>
              <a:t>Vũ Xuân Dự - 20252731M</a:t>
            </a:r>
            <a:endParaRPr lang="en-US" sz="1300" dirty="0"/>
          </a:p>
          <a:p>
            <a:pPr algn="ctr" indent="0" marL="0">
              <a:lnSpc>
                <a:spcPct val="130000"/>
              </a:lnSpc>
              <a:buNone/>
            </a:pPr>
            <a:r>
              <a:rPr lang="en-US" sz="1300" dirty="0">
                <a:solidFill>
                  <a:srgbClr val="FFFFFF"/>
                </a:solidFill>
                <a:latin typeface="Arial" pitchFamily="34" charset="0"/>
                <a:ea typeface="Arial" pitchFamily="34" charset="-122"/>
                <a:cs typeface="Arial" pitchFamily="34" charset="-120"/>
              </a:rPr>
              <a:t>Kiều Thái Tịnh - 20252605M</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8B0000"/>
          </a:solidFill>
          <a:ln/>
        </p:spPr>
      </p:sp>
      <p:sp>
        <p:nvSpPr>
          <p:cNvPr id="3" name="Text 1"/>
          <p:cNvSpPr/>
          <p:nvPr/>
        </p:nvSpPr>
        <p:spPr>
          <a:xfrm>
            <a:off x="457200" y="137160"/>
            <a:ext cx="8229600" cy="548640"/>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MỤC LỤC</a:t>
            </a:r>
            <a:endParaRPr lang="en-US" sz="2200" dirty="0"/>
          </a:p>
        </p:txBody>
      </p:sp>
      <p:sp>
        <p:nvSpPr>
          <p:cNvPr id="4" name="Shape 2"/>
          <p:cNvSpPr/>
          <p:nvPr/>
        </p:nvSpPr>
        <p:spPr>
          <a:xfrm>
            <a:off x="0" y="6492240"/>
            <a:ext cx="9144000" cy="365760"/>
          </a:xfrm>
          <a:prstGeom prst="rect">
            <a:avLst/>
          </a:prstGeom>
          <a:solidFill>
            <a:srgbClr val="8B0000"/>
          </a:solidFill>
          <a:ln/>
        </p:spPr>
      </p:sp>
      <p:sp>
        <p:nvSpPr>
          <p:cNvPr id="5" name="Text 3"/>
          <p:cNvSpPr/>
          <p:nvPr/>
        </p:nvSpPr>
        <p:spPr>
          <a:xfrm>
            <a:off x="274320" y="6492240"/>
            <a:ext cx="8229600" cy="365760"/>
          </a:xfrm>
          <a:prstGeom prst="rect">
            <a:avLst/>
          </a:prstGeom>
          <a:noFill/>
          <a:ln/>
        </p:spPr>
        <p:txBody>
          <a:bodyPr wrap="square" rtlCol="0" anchor="ctr"/>
          <a:lstStyle/>
          <a:p>
            <a:pPr indent="0" marL="0">
              <a:buNone/>
            </a:pPr>
            <a:r>
              <a:rPr lang="en-US" sz="900" dirty="0">
                <a:solidFill>
                  <a:srgbClr val="FFFFFF"/>
                </a:solidFill>
                <a:latin typeface="Arial" pitchFamily="34" charset="0"/>
                <a:ea typeface="Arial" pitchFamily="34" charset="-122"/>
                <a:cs typeface="Arial" pitchFamily="34" charset="-120"/>
              </a:rPr>
              <a:t>Đại học Bách khoa Hà Nội | Nhóm 10</a:t>
            </a:r>
            <a:endParaRPr lang="en-US" sz="900" dirty="0"/>
          </a:p>
        </p:txBody>
      </p:sp>
      <p:sp>
        <p:nvSpPr>
          <p:cNvPr id="6" name="Text 4"/>
          <p:cNvSpPr/>
          <p:nvPr/>
        </p:nvSpPr>
        <p:spPr>
          <a:xfrm>
            <a:off x="548640" y="1097280"/>
            <a:ext cx="8046720" cy="5029200"/>
          </a:xfrm>
          <a:prstGeom prst="rect">
            <a:avLst/>
          </a:prstGeom>
          <a:noFill/>
          <a:ln/>
        </p:spPr>
        <p:txBody>
          <a:bodyPr wrap="square" rtlCol="0" anchor="t"/>
          <a:lstStyle/>
          <a:p>
            <a:pPr marL="342900" indent="-342900">
              <a:spcAft>
                <a:spcPts val="600"/>
              </a:spcAft>
              <a:buSzPct val="100000"/>
              <a:buChar char="•"/>
            </a:pPr>
            <a:r>
              <a:rPr lang="en-US" sz="1600" dirty="0">
                <a:solidFill>
                  <a:srgbClr val="1A1A1A"/>
                </a:solidFill>
                <a:latin typeface="Arial" pitchFamily="34" charset="0"/>
                <a:ea typeface="Arial" pitchFamily="34" charset="-122"/>
                <a:cs typeface="Arial" pitchFamily="34" charset="-120"/>
              </a:rPr>
              <a:t>Chương 1: Tổng quan Agile &amp; Design Thinking</a:t>
            </a:r>
            <a:endParaRPr lang="en-US" sz="1600" dirty="0"/>
          </a:p>
          <a:p>
            <a:pPr marL="342900" indent="-342900">
              <a:spcAft>
                <a:spcPts val="600"/>
              </a:spcAft>
              <a:buSzPct val="100000"/>
              <a:buChar char="•"/>
            </a:pPr>
            <a:r>
              <a:rPr lang="en-US" sz="1600" dirty="0">
                <a:solidFill>
                  <a:srgbClr val="1A1A1A"/>
                </a:solidFill>
                <a:latin typeface="Arial" pitchFamily="34" charset="0"/>
                <a:ea typeface="Arial" pitchFamily="34" charset="-122"/>
                <a:cs typeface="Arial" pitchFamily="34" charset="-120"/>
              </a:rPr>
              <a:t>Chương 2: Nguyên lý phát triển linh hoạt</a:t>
            </a:r>
            <a:endParaRPr lang="en-US" sz="1600" dirty="0"/>
          </a:p>
          <a:p>
            <a:pPr marL="342900" indent="-342900">
              <a:spcAft>
                <a:spcPts val="600"/>
              </a:spcAft>
              <a:buSzPct val="100000"/>
              <a:buChar char="•"/>
            </a:pPr>
            <a:r>
              <a:rPr lang="en-US" sz="1600" dirty="0">
                <a:solidFill>
                  <a:srgbClr val="1A1A1A"/>
                </a:solidFill>
                <a:latin typeface="Arial" pitchFamily="34" charset="0"/>
                <a:ea typeface="Arial" pitchFamily="34" charset="-122"/>
                <a:cs typeface="Arial" pitchFamily="34" charset="-120"/>
              </a:rPr>
              <a:t>Chương 3: Thấu cảm và xác định vấn đề</a:t>
            </a:r>
            <a:endParaRPr lang="en-US" sz="1600" dirty="0"/>
          </a:p>
          <a:p>
            <a:pPr marL="342900" indent="-342900">
              <a:spcAft>
                <a:spcPts val="600"/>
              </a:spcAft>
              <a:buSzPct val="100000"/>
              <a:buChar char="•"/>
            </a:pPr>
            <a:r>
              <a:rPr lang="en-US" sz="1600" dirty="0">
                <a:solidFill>
                  <a:srgbClr val="1A1A1A"/>
                </a:solidFill>
                <a:latin typeface="Arial" pitchFamily="34" charset="0"/>
                <a:ea typeface="Arial" pitchFamily="34" charset="-122"/>
                <a:cs typeface="Arial" pitchFamily="34" charset="-120"/>
              </a:rPr>
              <a:t>Chương 4: Hình thành ý tưởng, Prototype &amp; Kiểm thử</a:t>
            </a:r>
            <a:endParaRPr lang="en-US" sz="1600" dirty="0"/>
          </a:p>
          <a:p>
            <a:pPr marL="342900" indent="-342900">
              <a:spcAft>
                <a:spcPts val="600"/>
              </a:spcAft>
              <a:buSzPct val="100000"/>
              <a:buChar char="•"/>
            </a:pPr>
            <a:r>
              <a:rPr lang="en-US" sz="1600" dirty="0">
                <a:solidFill>
                  <a:srgbClr val="1A1A1A"/>
                </a:solidFill>
                <a:latin typeface="Arial" pitchFamily="34" charset="0"/>
                <a:ea typeface="Arial" pitchFamily="34" charset="-122"/>
                <a:cs typeface="Arial" pitchFamily="34" charset="-120"/>
              </a:rPr>
              <a:t>Chương 5: Triển khai phát triển &amp; Tích hợp</a:t>
            </a:r>
            <a:endParaRPr lang="en-US" sz="1600" dirty="0"/>
          </a:p>
          <a:p>
            <a:pPr marL="342900" indent="-342900">
              <a:spcAft>
                <a:spcPts val="600"/>
              </a:spcAft>
              <a:buSzPct val="100000"/>
              <a:buChar char="•"/>
            </a:pPr>
            <a:r>
              <a:rPr lang="en-US" sz="1600" dirty="0">
                <a:solidFill>
                  <a:srgbClr val="1A1A1A"/>
                </a:solidFill>
                <a:latin typeface="Arial" pitchFamily="34" charset="0"/>
                <a:ea typeface="Arial" pitchFamily="34" charset="-122"/>
                <a:cs typeface="Arial" pitchFamily="34" charset="-120"/>
              </a:rPr>
              <a:t>Chương 6: Vận hành và cải tiến liên tục</a:t>
            </a:r>
            <a:endParaRPr lang="en-US" sz="1600" dirty="0"/>
          </a:p>
          <a:p>
            <a:pPr marL="342900" indent="-342900">
              <a:spcAft>
                <a:spcPts val="600"/>
              </a:spcAft>
              <a:buSzPct val="100000"/>
              <a:buChar char="•"/>
            </a:pPr>
            <a:r>
              <a:rPr lang="en-US" sz="1600" dirty="0">
                <a:solidFill>
                  <a:srgbClr val="1A1A1A"/>
                </a:solidFill>
                <a:latin typeface="Arial" pitchFamily="34" charset="0"/>
                <a:ea typeface="Arial" pitchFamily="34" charset="-122"/>
                <a:cs typeface="Arial" pitchFamily="34" charset="-120"/>
              </a:rPr>
              <a:t>Demo sản phẩm</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8B0000"/>
          </a:solidFill>
          <a:ln/>
        </p:spPr>
      </p:sp>
      <p:sp>
        <p:nvSpPr>
          <p:cNvPr id="3" name="Text 1"/>
          <p:cNvSpPr/>
          <p:nvPr/>
        </p:nvSpPr>
        <p:spPr>
          <a:xfrm>
            <a:off x="457200" y="137160"/>
            <a:ext cx="8229600" cy="548640"/>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Chương 1: Stakeholder Map</a:t>
            </a:r>
            <a:endParaRPr lang="en-US" sz="2200" dirty="0"/>
          </a:p>
        </p:txBody>
      </p:sp>
      <p:sp>
        <p:nvSpPr>
          <p:cNvPr id="4" name="Shape 2"/>
          <p:cNvSpPr/>
          <p:nvPr/>
        </p:nvSpPr>
        <p:spPr>
          <a:xfrm>
            <a:off x="0" y="6492240"/>
            <a:ext cx="9144000" cy="365760"/>
          </a:xfrm>
          <a:prstGeom prst="rect">
            <a:avLst/>
          </a:prstGeom>
          <a:solidFill>
            <a:srgbClr val="8B0000"/>
          </a:solidFill>
          <a:ln/>
        </p:spPr>
      </p:sp>
      <p:sp>
        <p:nvSpPr>
          <p:cNvPr id="5" name="Text 3"/>
          <p:cNvSpPr/>
          <p:nvPr/>
        </p:nvSpPr>
        <p:spPr>
          <a:xfrm>
            <a:off x="274320" y="6492240"/>
            <a:ext cx="8229600" cy="365760"/>
          </a:xfrm>
          <a:prstGeom prst="rect">
            <a:avLst/>
          </a:prstGeom>
          <a:noFill/>
          <a:ln/>
        </p:spPr>
        <p:txBody>
          <a:bodyPr wrap="square" rtlCol="0" anchor="ctr"/>
          <a:lstStyle/>
          <a:p>
            <a:pPr indent="0" marL="0">
              <a:buNone/>
            </a:pPr>
            <a:r>
              <a:rPr lang="en-US" sz="900" dirty="0">
                <a:solidFill>
                  <a:srgbClr val="FFFFFF"/>
                </a:solidFill>
                <a:latin typeface="Arial" pitchFamily="34" charset="0"/>
                <a:ea typeface="Arial" pitchFamily="34" charset="-122"/>
                <a:cs typeface="Arial" pitchFamily="34" charset="-120"/>
              </a:rPr>
              <a:t>Đại học Bách khoa Hà Nội | Nhóm 10</a:t>
            </a:r>
            <a:endParaRPr lang="en-US" sz="900" dirty="0"/>
          </a:p>
        </p:txBody>
      </p:sp>
      <p:sp>
        <p:nvSpPr>
          <p:cNvPr id="6" name="Text 4"/>
          <p:cNvSpPr/>
          <p:nvPr/>
        </p:nvSpPr>
        <p:spPr>
          <a:xfrm>
            <a:off x="548640" y="1097280"/>
            <a:ext cx="8046720" cy="5029200"/>
          </a:xfrm>
          <a:prstGeom prst="rect">
            <a:avLst/>
          </a:prstGeom>
          <a:noFill/>
          <a:ln/>
        </p:spPr>
        <p:txBody>
          <a:bodyPr wrap="square" rtlCol="0" anchor="t"/>
          <a:lstStyle/>
          <a:p>
            <a:pPr marL="342900" indent="-342900">
              <a:spcAft>
                <a:spcPts val="600"/>
              </a:spcAft>
              <a:buSzPct val="100000"/>
              <a:buChar char="•"/>
            </a:pPr>
            <a:r>
              <a:rPr lang="en-US" sz="1400" dirty="0">
                <a:solidFill>
                  <a:srgbClr val="1A1A1A"/>
                </a:solidFill>
                <a:latin typeface="Arial" pitchFamily="34" charset="0"/>
                <a:ea typeface="Arial" pitchFamily="34" charset="-122"/>
                <a:cs typeface="Arial" pitchFamily="34" charset="-120"/>
              </a:rPr>
              <a:t>Bệnh nhân người lớn: Người dùng trực tiếp chatbot</a:t>
            </a:r>
            <a:endParaRPr lang="en-US" sz="1400" dirty="0"/>
          </a:p>
          <a:p>
            <a:pPr marL="342900" indent="-342900">
              <a:spcAft>
                <a:spcPts val="600"/>
              </a:spcAft>
              <a:buSzPct val="100000"/>
              <a:buChar char="•"/>
            </a:pPr>
            <a:r>
              <a:rPr lang="en-US" sz="1400" dirty="0">
                <a:solidFill>
                  <a:srgbClr val="1A1A1A"/>
                </a:solidFill>
                <a:latin typeface="Arial" pitchFamily="34" charset="0"/>
                <a:ea typeface="Arial" pitchFamily="34" charset="-122"/>
                <a:cs typeface="Arial" pitchFamily="34" charset="-120"/>
              </a:rPr>
              <a:t>Cha mẹ / người giám hộ: Đặt lịch khám cho trẻ</a:t>
            </a:r>
            <a:endParaRPr lang="en-US" sz="1400" dirty="0"/>
          </a:p>
          <a:p>
            <a:pPr marL="342900" indent="-342900">
              <a:spcAft>
                <a:spcPts val="600"/>
              </a:spcAft>
              <a:buSzPct val="100000"/>
              <a:buChar char="•"/>
            </a:pPr>
            <a:r>
              <a:rPr lang="en-US" sz="1400" dirty="0">
                <a:solidFill>
                  <a:srgbClr val="1A1A1A"/>
                </a:solidFill>
                <a:latin typeface="Arial" pitchFamily="34" charset="0"/>
                <a:ea typeface="Arial" pitchFamily="34" charset="-122"/>
                <a:cs typeface="Arial" pitchFamily="34" charset="-120"/>
              </a:rPr>
              <a:t>Người cao tuổi: Cần giao diện đơn giản, chữ to</a:t>
            </a:r>
            <a:endParaRPr lang="en-US" sz="1400" dirty="0"/>
          </a:p>
          <a:p>
            <a:pPr marL="342900" indent="-342900">
              <a:spcAft>
                <a:spcPts val="600"/>
              </a:spcAft>
              <a:buSzPct val="100000"/>
              <a:buChar char="•"/>
            </a:pPr>
            <a:r>
              <a:rPr lang="en-US" sz="1400" dirty="0">
                <a:solidFill>
                  <a:srgbClr val="1A1A1A"/>
                </a:solidFill>
                <a:latin typeface="Arial" pitchFamily="34" charset="0"/>
                <a:ea typeface="Arial" pitchFamily="34" charset="-122"/>
                <a:cs typeface="Arial" pitchFamily="34" charset="-120"/>
              </a:rPr>
              <a:t>Bác sĩ gia đình: Giám sát chuyên môn, duyệt nội dung y khoa</a:t>
            </a:r>
            <a:endParaRPr lang="en-US" sz="1400" dirty="0"/>
          </a:p>
          <a:p>
            <a:pPr marL="342900" indent="-342900">
              <a:spcAft>
                <a:spcPts val="600"/>
              </a:spcAft>
              <a:buSzPct val="100000"/>
              <a:buChar char="•"/>
            </a:pPr>
            <a:r>
              <a:rPr lang="en-US" sz="1400" dirty="0">
                <a:solidFill>
                  <a:srgbClr val="1A1A1A"/>
                </a:solidFill>
                <a:latin typeface="Arial" pitchFamily="34" charset="0"/>
                <a:ea typeface="Arial" pitchFamily="34" charset="-122"/>
                <a:cs typeface="Arial" pitchFamily="34" charset="-120"/>
              </a:rPr>
              <a:t>CSKH / Nhân viên đăng ký: Giảm tải front desk</a:t>
            </a:r>
            <a:endParaRPr lang="en-US" sz="1400" dirty="0"/>
          </a:p>
          <a:p>
            <a:pPr marL="342900" indent="-342900">
              <a:spcAft>
                <a:spcPts val="600"/>
              </a:spcAft>
              <a:buSzPct val="100000"/>
              <a:buChar char="•"/>
            </a:pPr>
            <a:r>
              <a:rPr lang="en-US" sz="1400" dirty="0">
                <a:solidFill>
                  <a:srgbClr val="1A1A1A"/>
                </a:solidFill>
                <a:latin typeface="Arial" pitchFamily="34" charset="0"/>
                <a:ea typeface="Arial" pitchFamily="34" charset="-122"/>
                <a:cs typeface="Arial" pitchFamily="34" charset="-120"/>
              </a:rPr>
              <a:t>Đội IT / Dev: Xây dựng, vận hành chatbot</a:t>
            </a:r>
            <a:endParaRPr lang="en-US" sz="1400" dirty="0"/>
          </a:p>
          <a:p>
            <a:pPr marL="342900" indent="-342900">
              <a:spcAft>
                <a:spcPts val="600"/>
              </a:spcAft>
              <a:buSzPct val="100000"/>
              <a:buChar char="•"/>
            </a:pPr>
            <a:r>
              <a:rPr lang="en-US" sz="1400" dirty="0">
                <a:solidFill>
                  <a:srgbClr val="1A1A1A"/>
                </a:solidFill>
                <a:latin typeface="Arial" pitchFamily="34" charset="0"/>
                <a:ea typeface="Arial" pitchFamily="34" charset="-122"/>
                <a:cs typeface="Arial" pitchFamily="34" charset="-120"/>
              </a:rPr>
              <a:t>Quản lý phòng khám: Sponsor dự án, quyết định KPI</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8B0000"/>
          </a:solidFill>
          <a:ln/>
        </p:spPr>
      </p:sp>
      <p:sp>
        <p:nvSpPr>
          <p:cNvPr id="3" name="Text 1"/>
          <p:cNvSpPr/>
          <p:nvPr/>
        </p:nvSpPr>
        <p:spPr>
          <a:xfrm>
            <a:off x="457200" y="137160"/>
            <a:ext cx="8229600" cy="548640"/>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Chương 1: Problem Statement</a:t>
            </a:r>
            <a:endParaRPr lang="en-US" sz="2200" dirty="0"/>
          </a:p>
        </p:txBody>
      </p:sp>
      <p:sp>
        <p:nvSpPr>
          <p:cNvPr id="4" name="Shape 2"/>
          <p:cNvSpPr/>
          <p:nvPr/>
        </p:nvSpPr>
        <p:spPr>
          <a:xfrm>
            <a:off x="0" y="6492240"/>
            <a:ext cx="9144000" cy="365760"/>
          </a:xfrm>
          <a:prstGeom prst="rect">
            <a:avLst/>
          </a:prstGeom>
          <a:solidFill>
            <a:srgbClr val="8B0000"/>
          </a:solidFill>
          <a:ln/>
        </p:spPr>
      </p:sp>
      <p:sp>
        <p:nvSpPr>
          <p:cNvPr id="5" name="Text 3"/>
          <p:cNvSpPr/>
          <p:nvPr/>
        </p:nvSpPr>
        <p:spPr>
          <a:xfrm>
            <a:off x="274320" y="6492240"/>
            <a:ext cx="8229600" cy="365760"/>
          </a:xfrm>
          <a:prstGeom prst="rect">
            <a:avLst/>
          </a:prstGeom>
          <a:noFill/>
          <a:ln/>
        </p:spPr>
        <p:txBody>
          <a:bodyPr wrap="square" rtlCol="0" anchor="ctr"/>
          <a:lstStyle/>
          <a:p>
            <a:pPr indent="0" marL="0">
              <a:buNone/>
            </a:pPr>
            <a:r>
              <a:rPr lang="en-US" sz="900" dirty="0">
                <a:solidFill>
                  <a:srgbClr val="FFFFFF"/>
                </a:solidFill>
                <a:latin typeface="Arial" pitchFamily="34" charset="0"/>
                <a:ea typeface="Arial" pitchFamily="34" charset="-122"/>
                <a:cs typeface="Arial" pitchFamily="34" charset="-120"/>
              </a:rPr>
              <a:t>Đại học Bách khoa Hà Nội | Nhóm 10</a:t>
            </a:r>
            <a:endParaRPr lang="en-US" sz="900" dirty="0"/>
          </a:p>
        </p:txBody>
      </p:sp>
      <p:sp>
        <p:nvSpPr>
          <p:cNvPr id="6" name="Text 4"/>
          <p:cNvSpPr/>
          <p:nvPr/>
        </p:nvSpPr>
        <p:spPr>
          <a:xfrm>
            <a:off x="548640" y="1097280"/>
            <a:ext cx="8046720" cy="1371600"/>
          </a:xfrm>
          <a:prstGeom prst="roundRect">
            <a:avLst/>
          </a:prstGeom>
          <a:solidFill>
            <a:srgbClr val="F5F5F5"/>
          </a:solidFill>
          <a:ln/>
        </p:spPr>
        <p:txBody>
          <a:bodyPr wrap="square" rtlCol="0" anchor="ctr"/>
          <a:lstStyle/>
          <a:p>
            <a:pPr indent="0" marL="0">
              <a:buNone/>
            </a:pPr>
            <a:r>
              <a:rPr lang="en-US" sz="1500" i="1" dirty="0">
                <a:solidFill>
                  <a:srgbClr val="1A1A1A"/>
                </a:solidFill>
                <a:latin typeface="Arial" pitchFamily="34" charset="0"/>
                <a:ea typeface="Arial" pitchFamily="34" charset="-122"/>
                <a:cs typeface="Arial" pitchFamily="34" charset="-120"/>
              </a:rPr>
              <a:t>Việc chăm sóc sức khỏe gia đình hiện nay còn phân mảnh, thiếu công cụ số đáng tin cậy để tư vấn ban đầu, theo dõi chỉ số, quản lý thuốc và hỗ trợ khẩn cấp.</a:t>
            </a:r>
            <a:endParaRPr lang="en-US" sz="1500" dirty="0"/>
          </a:p>
        </p:txBody>
      </p:sp>
      <p:sp>
        <p:nvSpPr>
          <p:cNvPr id="7" name="Text 5"/>
          <p:cNvSpPr/>
          <p:nvPr/>
        </p:nvSpPr>
        <p:spPr>
          <a:xfrm>
            <a:off x="548640" y="2926080"/>
            <a:ext cx="8046720" cy="5029200"/>
          </a:xfrm>
          <a:prstGeom prst="rect">
            <a:avLst/>
          </a:prstGeom>
          <a:noFill/>
          <a:ln/>
        </p:spPr>
        <p:txBody>
          <a:bodyPr wrap="square" rtlCol="0" anchor="t"/>
          <a:lstStyle/>
          <a:p>
            <a:pPr marL="342900" indent="-342900">
              <a:spcAft>
                <a:spcPts val="600"/>
              </a:spcAft>
              <a:buSzPct val="100000"/>
              <a:buChar char="•"/>
            </a:pPr>
            <a:r>
              <a:rPr lang="en-US" sz="1400" dirty="0">
                <a:solidFill>
                  <a:srgbClr val="1A1A1A"/>
                </a:solidFill>
                <a:latin typeface="Arial" pitchFamily="34" charset="0"/>
                <a:ea typeface="Arial" pitchFamily="34" charset="-122"/>
                <a:cs typeface="Arial" pitchFamily="34" charset="-120"/>
              </a:rPr>
              <a:t>Thông tin y tế trên Internet phân tán, không đáng tin cậy</a:t>
            </a:r>
            <a:endParaRPr lang="en-US" sz="1400" dirty="0"/>
          </a:p>
          <a:p>
            <a:pPr marL="342900" indent="-342900">
              <a:spcAft>
                <a:spcPts val="600"/>
              </a:spcAft>
              <a:buSzPct val="100000"/>
              <a:buChar char="•"/>
            </a:pPr>
            <a:r>
              <a:rPr lang="en-US" sz="1400" dirty="0">
                <a:solidFill>
                  <a:srgbClr val="1A1A1A"/>
                </a:solidFill>
                <a:latin typeface="Arial" pitchFamily="34" charset="0"/>
                <a:ea typeface="Arial" pitchFamily="34" charset="-122"/>
                <a:cs typeface="Arial" pitchFamily="34" charset="-120"/>
              </a:rPr>
              <a:t>Thiếu nơi tập trung lưu hồ sơ sức khỏe gia đình</a:t>
            </a:r>
            <a:endParaRPr lang="en-US" sz="1400" dirty="0"/>
          </a:p>
          <a:p>
            <a:pPr marL="342900" indent="-342900">
              <a:spcAft>
                <a:spcPts val="600"/>
              </a:spcAft>
              <a:buSzPct val="100000"/>
              <a:buChar char="•"/>
            </a:pPr>
            <a:r>
              <a:rPr lang="en-US" sz="1400" dirty="0">
                <a:solidFill>
                  <a:srgbClr val="1A1A1A"/>
                </a:solidFill>
                <a:latin typeface="Arial" pitchFamily="34" charset="0"/>
                <a:ea typeface="Arial" pitchFamily="34" charset="-122"/>
                <a:cs typeface="Arial" pitchFamily="34" charset="-120"/>
              </a:rPr>
              <a:t>Người lớn tuổi gặp khó khăn với ứng dụng phức tạp</a:t>
            </a:r>
            <a:endParaRPr lang="en-US" sz="1400" dirty="0"/>
          </a:p>
          <a:p>
            <a:pPr marL="342900" indent="-342900">
              <a:spcAft>
                <a:spcPts val="600"/>
              </a:spcAft>
              <a:buSzPct val="100000"/>
              <a:buChar char="•"/>
            </a:pPr>
            <a:r>
              <a:rPr lang="en-US" sz="1400" dirty="0">
                <a:solidFill>
                  <a:srgbClr val="1A1A1A"/>
                </a:solidFill>
                <a:latin typeface="Arial" pitchFamily="34" charset="0"/>
                <a:ea typeface="Arial" pitchFamily="34" charset="-122"/>
                <a:cs typeface="Arial" pitchFamily="34" charset="-120"/>
              </a:rPr>
              <a:t>Nhắc uống thuốc còn thủ công, dễ quên</a:t>
            </a:r>
            <a:endParaRPr lang="en-US" sz="1400" dirty="0"/>
          </a:p>
          <a:p>
            <a:pPr marL="342900" indent="-342900">
              <a:spcAft>
                <a:spcPts val="600"/>
              </a:spcAft>
              <a:buSzPct val="100000"/>
              <a:buChar char="•"/>
            </a:pPr>
            <a:r>
              <a:rPr lang="en-US" sz="1400" dirty="0">
                <a:solidFill>
                  <a:srgbClr val="1A1A1A"/>
                </a:solidFill>
                <a:latin typeface="Arial" pitchFamily="34" charset="0"/>
                <a:ea typeface="Arial" pitchFamily="34" charset="-122"/>
                <a:cs typeface="Arial" pitchFamily="34" charset="-120"/>
              </a:rPr>
              <a:t>Khoảng cách lớn giữa nhu cầu tư vấn và khả năng kết nối bác sĩ</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8B0000"/>
          </a:solidFill>
          <a:ln/>
        </p:spPr>
      </p:sp>
      <p:sp>
        <p:nvSpPr>
          <p:cNvPr id="3" name="Text 1"/>
          <p:cNvSpPr/>
          <p:nvPr/>
        </p:nvSpPr>
        <p:spPr>
          <a:xfrm>
            <a:off x="457200" y="137160"/>
            <a:ext cx="8229600" cy="548640"/>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Chương 1: Product Vision &amp; OKR</a:t>
            </a:r>
            <a:endParaRPr lang="en-US" sz="2200" dirty="0"/>
          </a:p>
        </p:txBody>
      </p:sp>
      <p:sp>
        <p:nvSpPr>
          <p:cNvPr id="4" name="Shape 2"/>
          <p:cNvSpPr/>
          <p:nvPr/>
        </p:nvSpPr>
        <p:spPr>
          <a:xfrm>
            <a:off x="0" y="6492240"/>
            <a:ext cx="9144000" cy="365760"/>
          </a:xfrm>
          <a:prstGeom prst="rect">
            <a:avLst/>
          </a:prstGeom>
          <a:solidFill>
            <a:srgbClr val="8B0000"/>
          </a:solidFill>
          <a:ln/>
        </p:spPr>
      </p:sp>
      <p:sp>
        <p:nvSpPr>
          <p:cNvPr id="5" name="Text 3"/>
          <p:cNvSpPr/>
          <p:nvPr/>
        </p:nvSpPr>
        <p:spPr>
          <a:xfrm>
            <a:off x="274320" y="6492240"/>
            <a:ext cx="8229600" cy="365760"/>
          </a:xfrm>
          <a:prstGeom prst="rect">
            <a:avLst/>
          </a:prstGeom>
          <a:noFill/>
          <a:ln/>
        </p:spPr>
        <p:txBody>
          <a:bodyPr wrap="square" rtlCol="0" anchor="ctr"/>
          <a:lstStyle/>
          <a:p>
            <a:pPr indent="0" marL="0">
              <a:buNone/>
            </a:pPr>
            <a:r>
              <a:rPr lang="en-US" sz="900" dirty="0">
                <a:solidFill>
                  <a:srgbClr val="FFFFFF"/>
                </a:solidFill>
                <a:latin typeface="Arial" pitchFamily="34" charset="0"/>
                <a:ea typeface="Arial" pitchFamily="34" charset="-122"/>
                <a:cs typeface="Arial" pitchFamily="34" charset="-120"/>
              </a:rPr>
              <a:t>Đại học Bách khoa Hà Nội | Nhóm 10</a:t>
            </a:r>
            <a:endParaRPr lang="en-US" sz="900" dirty="0"/>
          </a:p>
        </p:txBody>
      </p:sp>
      <p:sp>
        <p:nvSpPr>
          <p:cNvPr id="6" name="Text 4"/>
          <p:cNvSpPr/>
          <p:nvPr/>
        </p:nvSpPr>
        <p:spPr>
          <a:xfrm>
            <a:off x="548640" y="1097280"/>
            <a:ext cx="8046720" cy="731520"/>
          </a:xfrm>
          <a:prstGeom prst="rect">
            <a:avLst/>
          </a:prstGeom>
          <a:noFill/>
          <a:ln/>
        </p:spPr>
        <p:txBody>
          <a:bodyPr wrap="square" rtlCol="0" anchor="ctr"/>
          <a:lstStyle/>
          <a:p>
            <a:pPr indent="0" marL="0">
              <a:buNone/>
            </a:pPr>
            <a:r>
              <a:rPr lang="en-US" sz="1400" b="1" dirty="0">
                <a:solidFill>
                  <a:srgbClr val="8B0000"/>
                </a:solidFill>
                <a:latin typeface="Arial" pitchFamily="34" charset="0"/>
                <a:ea typeface="Arial" pitchFamily="34" charset="-122"/>
                <a:cs typeface="Arial" pitchFamily="34" charset="-120"/>
              </a:rPr>
              <a:t>Vision: Xây dựng HealthCare AI trở thành trợ lý chăm sóc sức khỏe gia đình đáng tin cậy</a:t>
            </a:r>
            <a:endParaRPr lang="en-US" sz="1400" dirty="0"/>
          </a:p>
        </p:txBody>
      </p:sp>
      <p:sp>
        <p:nvSpPr>
          <p:cNvPr id="7" name="Text 5"/>
          <p:cNvSpPr/>
          <p:nvPr/>
        </p:nvSpPr>
        <p:spPr>
          <a:xfrm>
            <a:off x="548640" y="2103120"/>
            <a:ext cx="8046720" cy="5029200"/>
          </a:xfrm>
          <a:prstGeom prst="rect">
            <a:avLst/>
          </a:prstGeom>
          <a:noFill/>
          <a:ln/>
        </p:spPr>
        <p:txBody>
          <a:bodyPr wrap="square" rtlCol="0" anchor="t"/>
          <a:lstStyle/>
          <a:p>
            <a:pPr marL="342900" indent="-342900">
              <a:spcAft>
                <a:spcPts val="600"/>
              </a:spcAft>
              <a:buSzPct val="100000"/>
              <a:buChar char="•"/>
            </a:pPr>
            <a:r>
              <a:rPr lang="en-US" sz="1400" dirty="0">
                <a:solidFill>
                  <a:srgbClr val="1A1A1A"/>
                </a:solidFill>
                <a:latin typeface="Arial" pitchFamily="34" charset="0"/>
                <a:ea typeface="Arial" pitchFamily="34" charset="-122"/>
                <a:cs typeface="Arial" pitchFamily="34" charset="-120"/>
              </a:rPr>
              <a:t>O1: Cung cấp tư vấn triệu chứng ban đầu chính xác, an toàn</a:t>
            </a:r>
            <a:endParaRPr lang="en-US" sz="1400" dirty="0"/>
          </a:p>
          <a:p>
            <a:pPr marL="342900" indent="-342900">
              <a:spcAft>
                <a:spcPts val="600"/>
              </a:spcAft>
              <a:buSzPct val="100000"/>
              <a:buChar char="•"/>
            </a:pPr>
            <a:r>
              <a:rPr lang="en-US" sz="1400" dirty="0">
                <a:solidFill>
                  <a:srgbClr val="1A1A1A"/>
                </a:solidFill>
                <a:latin typeface="Arial" pitchFamily="34" charset="0"/>
                <a:ea typeface="Arial" pitchFamily="34" charset="-122"/>
                <a:cs typeface="Arial" pitchFamily="34" charset="-120"/>
              </a:rPr>
              <a:t>  KR1: Phản hồi ≤ 5 giây, độ chính xác ≥ 85%</a:t>
            </a:r>
            <a:endParaRPr lang="en-US" sz="1400" dirty="0"/>
          </a:p>
          <a:p>
            <a:pPr marL="342900" indent="-342900">
              <a:spcAft>
                <a:spcPts val="600"/>
              </a:spcAft>
              <a:buSzPct val="100000"/>
              <a:buChar char="•"/>
            </a:pPr>
            <a:r>
              <a:rPr lang="en-US" sz="1400" dirty="0">
                <a:solidFill>
                  <a:srgbClr val="1A1A1A"/>
                </a:solidFill>
                <a:latin typeface="Arial" pitchFamily="34" charset="0"/>
                <a:ea typeface="Arial" pitchFamily="34" charset="-122"/>
                <a:cs typeface="Arial" pitchFamily="34" charset="-120"/>
              </a:rPr>
              <a:t>O2: Tăng tỷ lệ đặt lịch khám qua chatbot</a:t>
            </a:r>
            <a:endParaRPr lang="en-US" sz="1400" dirty="0"/>
          </a:p>
          <a:p>
            <a:pPr marL="342900" indent="-342900">
              <a:spcAft>
                <a:spcPts val="600"/>
              </a:spcAft>
              <a:buSzPct val="100000"/>
              <a:buChar char="•"/>
            </a:pPr>
            <a:r>
              <a:rPr lang="en-US" sz="1400" dirty="0">
                <a:solidFill>
                  <a:srgbClr val="1A1A1A"/>
                </a:solidFill>
                <a:latin typeface="Arial" pitchFamily="34" charset="0"/>
                <a:ea typeface="Arial" pitchFamily="34" charset="-122"/>
                <a:cs typeface="Arial" pitchFamily="34" charset="-120"/>
              </a:rPr>
              <a:t>  KR2: ≥ 50% bệnh nhân đặt lịch thành công qua bot</a:t>
            </a:r>
            <a:endParaRPr lang="en-US" sz="1400" dirty="0"/>
          </a:p>
          <a:p>
            <a:pPr marL="342900" indent="-342900">
              <a:spcAft>
                <a:spcPts val="600"/>
              </a:spcAft>
              <a:buSzPct val="100000"/>
              <a:buChar char="•"/>
            </a:pPr>
            <a:r>
              <a:rPr lang="en-US" sz="1400" dirty="0">
                <a:solidFill>
                  <a:srgbClr val="1A1A1A"/>
                </a:solidFill>
                <a:latin typeface="Arial" pitchFamily="34" charset="0"/>
                <a:ea typeface="Arial" pitchFamily="34" charset="-122"/>
                <a:cs typeface="Arial" pitchFamily="34" charset="-120"/>
              </a:rPr>
              <a:t>O3: Giảm tải cho nhân viên tiếp nhận</a:t>
            </a:r>
            <a:endParaRPr lang="en-US" sz="1400" dirty="0"/>
          </a:p>
          <a:p>
            <a:pPr marL="342900" indent="-342900">
              <a:spcAft>
                <a:spcPts val="600"/>
              </a:spcAft>
              <a:buSzPct val="100000"/>
              <a:buChar char="•"/>
            </a:pPr>
            <a:r>
              <a:rPr lang="en-US" sz="1400" dirty="0">
                <a:solidFill>
                  <a:srgbClr val="1A1A1A"/>
                </a:solidFill>
                <a:latin typeface="Arial" pitchFamily="34" charset="0"/>
                <a:ea typeface="Arial" pitchFamily="34" charset="-122"/>
                <a:cs typeface="Arial" pitchFamily="34" charset="-120"/>
              </a:rPr>
              <a:t>  KR3: Giảm 40% cuộc gọi trùng lặp đến front desk</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8B0000"/>
          </a:solidFill>
          <a:ln/>
        </p:spPr>
      </p:sp>
      <p:sp>
        <p:nvSpPr>
          <p:cNvPr id="3" name="Text 1"/>
          <p:cNvSpPr/>
          <p:nvPr/>
        </p:nvSpPr>
        <p:spPr>
          <a:xfrm>
            <a:off x="457200" y="137160"/>
            <a:ext cx="8229600" cy="548640"/>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Chương 2: Scrum Team Structure</a:t>
            </a:r>
            <a:endParaRPr lang="en-US" sz="2200" dirty="0"/>
          </a:p>
        </p:txBody>
      </p:sp>
      <p:sp>
        <p:nvSpPr>
          <p:cNvPr id="4" name="Shape 2"/>
          <p:cNvSpPr/>
          <p:nvPr/>
        </p:nvSpPr>
        <p:spPr>
          <a:xfrm>
            <a:off x="0" y="6492240"/>
            <a:ext cx="9144000" cy="365760"/>
          </a:xfrm>
          <a:prstGeom prst="rect">
            <a:avLst/>
          </a:prstGeom>
          <a:solidFill>
            <a:srgbClr val="8B0000"/>
          </a:solidFill>
          <a:ln/>
        </p:spPr>
      </p:sp>
      <p:sp>
        <p:nvSpPr>
          <p:cNvPr id="5" name="Text 3"/>
          <p:cNvSpPr/>
          <p:nvPr/>
        </p:nvSpPr>
        <p:spPr>
          <a:xfrm>
            <a:off x="274320" y="6492240"/>
            <a:ext cx="8229600" cy="365760"/>
          </a:xfrm>
          <a:prstGeom prst="rect">
            <a:avLst/>
          </a:prstGeom>
          <a:noFill/>
          <a:ln/>
        </p:spPr>
        <p:txBody>
          <a:bodyPr wrap="square" rtlCol="0" anchor="ctr"/>
          <a:lstStyle/>
          <a:p>
            <a:pPr indent="0" marL="0">
              <a:buNone/>
            </a:pPr>
            <a:r>
              <a:rPr lang="en-US" sz="900" dirty="0">
                <a:solidFill>
                  <a:srgbClr val="FFFFFF"/>
                </a:solidFill>
                <a:latin typeface="Arial" pitchFamily="34" charset="0"/>
                <a:ea typeface="Arial" pitchFamily="34" charset="-122"/>
                <a:cs typeface="Arial" pitchFamily="34" charset="-120"/>
              </a:rPr>
              <a:t>Đại học Bách khoa Hà Nội | Nhóm 10</a:t>
            </a:r>
            <a:endParaRPr lang="en-US" sz="9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1645920"/>
                <a:gridCol w="2286000"/>
                <a:gridCol w="4297680"/>
              </a:tblGrid>
              <a:tr h="365760">
                <a:tc>
                  <a:txBody>
                    <a:bodyPr/>
                    <a:lstStyle/>
                    <a:p>
                      <a:pPr indent="0" marL="0">
                        <a:buNone/>
                      </a:pPr>
                      <a:r>
                        <a:rPr lang="en-US" sz="1200" dirty="0">
                          <a:solidFill>
                            <a:srgbClr val="000000"/>
                          </a:solidFill>
                          <a:latin typeface="Arial" pitchFamily="34" charset="0"/>
                          <a:ea typeface="Arial" pitchFamily="34" charset="-122"/>
                          <a:cs typeface="Arial" pitchFamily="34" charset="-120"/>
                        </a:rPr>
                        <a:t>Vai trò</a:t>
                      </a:r>
                      <a:endParaRPr lang="en-US" sz="12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Thành viên</a:t>
                      </a:r>
                      <a:endParaRPr lang="en-US" sz="12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Trách nhiệm</a:t>
                      </a:r>
                      <a:endParaRPr lang="en-US" sz="12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r>
              <a:tr h="365760">
                <a:tc>
                  <a:txBody>
                    <a:bodyPr/>
                    <a:lstStyle/>
                    <a:p>
                      <a:pPr indent="0" marL="0">
                        <a:buNone/>
                      </a:pPr>
                      <a:r>
                        <a:rPr lang="en-US" sz="1200" dirty="0">
                          <a:solidFill>
                            <a:srgbClr val="000000"/>
                          </a:solidFill>
                          <a:latin typeface="Arial" pitchFamily="34" charset="0"/>
                          <a:ea typeface="Arial" pitchFamily="34" charset="-122"/>
                          <a:cs typeface="Arial" pitchFamily="34" charset="-120"/>
                        </a:rPr>
                        <a:t>Product Owner</a:t>
                      </a:r>
                      <a:endParaRPr lang="en-US" sz="12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Nguyễn Đồng Hoàng</a:t>
                      </a:r>
                      <a:endParaRPr lang="en-US" sz="12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Quản lý Product Backlog, ưu tiên US</a:t>
                      </a:r>
                      <a:endParaRPr lang="en-US" sz="12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r>
              <a:tr h="365760">
                <a:tc>
                  <a:txBody>
                    <a:bodyPr/>
                    <a:lstStyle/>
                    <a:p>
                      <a:pPr indent="0" marL="0">
                        <a:buNone/>
                      </a:pPr>
                      <a:r>
                        <a:rPr lang="en-US" sz="1200" dirty="0">
                          <a:solidFill>
                            <a:srgbClr val="000000"/>
                          </a:solidFill>
                          <a:latin typeface="Arial" pitchFamily="34" charset="0"/>
                          <a:ea typeface="Arial" pitchFamily="34" charset="-122"/>
                          <a:cs typeface="Arial" pitchFamily="34" charset="-120"/>
                        </a:rPr>
                        <a:t>Scrum Master</a:t>
                      </a:r>
                      <a:endParaRPr lang="en-US" sz="12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Vũ Xuân Dự</a:t>
                      </a:r>
                      <a:endParaRPr lang="en-US" sz="12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Điều phối Sprint, loại bỏ blocker</a:t>
                      </a:r>
                      <a:endParaRPr lang="en-US" sz="12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r>
              <a:tr h="365760">
                <a:tc>
                  <a:txBody>
                    <a:bodyPr/>
                    <a:lstStyle/>
                    <a:p>
                      <a:pPr indent="0" marL="0">
                        <a:buNone/>
                      </a:pPr>
                      <a:r>
                        <a:rPr lang="en-US" sz="1200" dirty="0">
                          <a:solidFill>
                            <a:srgbClr val="000000"/>
                          </a:solidFill>
                          <a:latin typeface="Arial" pitchFamily="34" charset="0"/>
                          <a:ea typeface="Arial" pitchFamily="34" charset="-122"/>
                          <a:cs typeface="Arial" pitchFamily="34" charset="-120"/>
                        </a:rPr>
                        <a:t>Dev (Frontend)</a:t>
                      </a:r>
                      <a:endParaRPr lang="en-US" sz="12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Phạm Nhật Linh</a:t>
                      </a:r>
                      <a:endParaRPr lang="en-US" sz="12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React, UI/UX, responsive design</a:t>
                      </a:r>
                      <a:endParaRPr lang="en-US" sz="12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r>
              <a:tr h="365760">
                <a:tc>
                  <a:txBody>
                    <a:bodyPr/>
                    <a:lstStyle/>
                    <a:p>
                      <a:pPr indent="0" marL="0">
                        <a:buNone/>
                      </a:pPr>
                      <a:r>
                        <a:rPr lang="en-US" sz="1200" dirty="0">
                          <a:solidFill>
                            <a:srgbClr val="000000"/>
                          </a:solidFill>
                          <a:latin typeface="Arial" pitchFamily="34" charset="0"/>
                          <a:ea typeface="Arial" pitchFamily="34" charset="-122"/>
                          <a:cs typeface="Arial" pitchFamily="34" charset="-120"/>
                        </a:rPr>
                        <a:t>Dev (Backend)</a:t>
                      </a:r>
                      <a:endParaRPr lang="en-US" sz="12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Kiều Thái Tịnh</a:t>
                      </a:r>
                      <a:endParaRPr lang="en-US" sz="12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Node.js, API, tích hợp Gemini AI</a:t>
                      </a:r>
                      <a:endParaRPr lang="en-US" sz="12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8B0000"/>
          </a:solidFill>
          <a:ln/>
        </p:spPr>
      </p:sp>
      <p:sp>
        <p:nvSpPr>
          <p:cNvPr id="3" name="Text 1"/>
          <p:cNvSpPr/>
          <p:nvPr/>
        </p:nvSpPr>
        <p:spPr>
          <a:xfrm>
            <a:off x="457200" y="137160"/>
            <a:ext cx="8229600" cy="548640"/>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Chương 2: Working Agreement &amp; Sprint</a:t>
            </a:r>
            <a:endParaRPr lang="en-US" sz="2200" dirty="0"/>
          </a:p>
        </p:txBody>
      </p:sp>
      <p:sp>
        <p:nvSpPr>
          <p:cNvPr id="4" name="Shape 2"/>
          <p:cNvSpPr/>
          <p:nvPr/>
        </p:nvSpPr>
        <p:spPr>
          <a:xfrm>
            <a:off x="0" y="6492240"/>
            <a:ext cx="9144000" cy="365760"/>
          </a:xfrm>
          <a:prstGeom prst="rect">
            <a:avLst/>
          </a:prstGeom>
          <a:solidFill>
            <a:srgbClr val="8B0000"/>
          </a:solidFill>
          <a:ln/>
        </p:spPr>
      </p:sp>
      <p:sp>
        <p:nvSpPr>
          <p:cNvPr id="5" name="Text 3"/>
          <p:cNvSpPr/>
          <p:nvPr/>
        </p:nvSpPr>
        <p:spPr>
          <a:xfrm>
            <a:off x="274320" y="6492240"/>
            <a:ext cx="8229600" cy="365760"/>
          </a:xfrm>
          <a:prstGeom prst="rect">
            <a:avLst/>
          </a:prstGeom>
          <a:noFill/>
          <a:ln/>
        </p:spPr>
        <p:txBody>
          <a:bodyPr wrap="square" rtlCol="0" anchor="ctr"/>
          <a:lstStyle/>
          <a:p>
            <a:pPr indent="0" marL="0">
              <a:buNone/>
            </a:pPr>
            <a:r>
              <a:rPr lang="en-US" sz="900" dirty="0">
                <a:solidFill>
                  <a:srgbClr val="FFFFFF"/>
                </a:solidFill>
                <a:latin typeface="Arial" pitchFamily="34" charset="0"/>
                <a:ea typeface="Arial" pitchFamily="34" charset="-122"/>
                <a:cs typeface="Arial" pitchFamily="34" charset="-120"/>
              </a:rPr>
              <a:t>Đại học Bách khoa Hà Nội | Nhóm 10</a:t>
            </a:r>
            <a:endParaRPr lang="en-US" sz="900" dirty="0"/>
          </a:p>
        </p:txBody>
      </p:sp>
      <p:sp>
        <p:nvSpPr>
          <p:cNvPr id="6" name="Text 4"/>
          <p:cNvSpPr/>
          <p:nvPr/>
        </p:nvSpPr>
        <p:spPr>
          <a:xfrm>
            <a:off x="548640" y="1097280"/>
            <a:ext cx="8046720" cy="5029200"/>
          </a:xfrm>
          <a:prstGeom prst="rect">
            <a:avLst/>
          </a:prstGeom>
          <a:noFill/>
          <a:ln/>
        </p:spPr>
        <p:txBody>
          <a:bodyPr wrap="square" rtlCol="0" anchor="t"/>
          <a:lstStyle/>
          <a:p>
            <a:pPr marL="342900" indent="-342900">
              <a:spcAft>
                <a:spcPts val="600"/>
              </a:spcAft>
              <a:buSzPct val="100000"/>
              <a:buChar char="•"/>
            </a:pPr>
            <a:r>
              <a:rPr lang="en-US" sz="1400" dirty="0">
                <a:solidFill>
                  <a:srgbClr val="1A1A1A"/>
                </a:solidFill>
                <a:latin typeface="Arial" pitchFamily="34" charset="0"/>
                <a:ea typeface="Arial" pitchFamily="34" charset="-122"/>
                <a:cs typeface="Arial" pitchFamily="34" charset="-120"/>
              </a:rPr>
              <a:t>Sprint length: 1 tuần (7 ngày)</a:t>
            </a:r>
            <a:endParaRPr lang="en-US" sz="1400" dirty="0"/>
          </a:p>
          <a:p>
            <a:pPr marL="342900" indent="-342900">
              <a:spcAft>
                <a:spcPts val="600"/>
              </a:spcAft>
              <a:buSzPct val="100000"/>
              <a:buChar char="•"/>
            </a:pPr>
            <a:r>
              <a:rPr lang="en-US" sz="1400" dirty="0">
                <a:solidFill>
                  <a:srgbClr val="1A1A1A"/>
                </a:solidFill>
                <a:latin typeface="Arial" pitchFamily="34" charset="0"/>
                <a:ea typeface="Arial" pitchFamily="34" charset="-122"/>
                <a:cs typeface="Arial" pitchFamily="34" charset="-120"/>
              </a:rPr>
              <a:t>Daily Standup: 15 phút mỗi sáng qua Google Meet</a:t>
            </a:r>
            <a:endParaRPr lang="en-US" sz="1400" dirty="0"/>
          </a:p>
          <a:p>
            <a:pPr marL="342900" indent="-342900">
              <a:spcAft>
                <a:spcPts val="600"/>
              </a:spcAft>
              <a:buSzPct val="100000"/>
              <a:buChar char="•"/>
            </a:pPr>
            <a:r>
              <a:rPr lang="en-US" sz="1400" dirty="0">
                <a:solidFill>
                  <a:srgbClr val="1A1A1A"/>
                </a:solidFill>
                <a:latin typeface="Arial" pitchFamily="34" charset="0"/>
                <a:ea typeface="Arial" pitchFamily="34" charset="-122"/>
                <a:cs typeface="Arial" pitchFamily="34" charset="-120"/>
              </a:rPr>
              <a:t>Công cụ: GitHub (code), Trello (board), Zalo (chat)</a:t>
            </a:r>
            <a:endParaRPr lang="en-US" sz="1400" dirty="0"/>
          </a:p>
          <a:p>
            <a:pPr marL="342900" indent="-342900">
              <a:spcAft>
                <a:spcPts val="600"/>
              </a:spcAft>
              <a:buSzPct val="100000"/>
              <a:buChar char="•"/>
            </a:pPr>
            <a:r>
              <a:rPr lang="en-US" sz="1400" dirty="0">
                <a:solidFill>
                  <a:srgbClr val="1A1A1A"/>
                </a:solidFill>
                <a:latin typeface="Arial" pitchFamily="34" charset="0"/>
                <a:ea typeface="Arial" pitchFamily="34" charset="-122"/>
                <a:cs typeface="Arial" pitchFamily="34" charset="-120"/>
              </a:rPr>
              <a:t>Definition of Done: Code review + test + merge main</a:t>
            </a:r>
            <a:endParaRPr lang="en-US" sz="1400" dirty="0"/>
          </a:p>
          <a:p>
            <a:pPr marL="342900" indent="-342900">
              <a:spcAft>
                <a:spcPts val="600"/>
              </a:spcAft>
              <a:buSzPct val="100000"/>
              <a:buChar char="•"/>
            </a:pPr>
            <a:r>
              <a:rPr lang="en-US" sz="1400" dirty="0">
                <a:solidFill>
                  <a:srgbClr val="1A1A1A"/>
                </a:solidFill>
                <a:latin typeface="Arial" pitchFamily="34" charset="0"/>
                <a:ea typeface="Arial" pitchFamily="34" charset="-122"/>
                <a:cs typeface="Arial" pitchFamily="34" charset="-120"/>
              </a:rPr>
              <a:t>Sprint 1: Setup project, Auth, UI cơ bản</a:t>
            </a:r>
            <a:endParaRPr lang="en-US" sz="1400" dirty="0"/>
          </a:p>
          <a:p>
            <a:pPr marL="342900" indent="-342900">
              <a:spcAft>
                <a:spcPts val="600"/>
              </a:spcAft>
              <a:buSzPct val="100000"/>
              <a:buChar char="•"/>
            </a:pPr>
            <a:r>
              <a:rPr lang="en-US" sz="1400" dirty="0">
                <a:solidFill>
                  <a:srgbClr val="1A1A1A"/>
                </a:solidFill>
                <a:latin typeface="Arial" pitchFamily="34" charset="0"/>
                <a:ea typeface="Arial" pitchFamily="34" charset="-122"/>
                <a:cs typeface="Arial" pitchFamily="34" charset="-120"/>
              </a:rPr>
              <a:t>Sprint 2: Tích hợp Gemini AI, Chat realtime</a:t>
            </a:r>
            <a:endParaRPr lang="en-US" sz="1400" dirty="0"/>
          </a:p>
          <a:p>
            <a:pPr marL="342900" indent="-342900">
              <a:spcAft>
                <a:spcPts val="600"/>
              </a:spcAft>
              <a:buSzPct val="100000"/>
              <a:buChar char="•"/>
            </a:pPr>
            <a:r>
              <a:rPr lang="en-US" sz="1400" dirty="0">
                <a:solidFill>
                  <a:srgbClr val="1A1A1A"/>
                </a:solidFill>
                <a:latin typeface="Arial" pitchFamily="34" charset="0"/>
                <a:ea typeface="Arial" pitchFamily="34" charset="-122"/>
                <a:cs typeface="Arial" pitchFamily="34" charset="-120"/>
              </a:rPr>
              <a:t>Sprint 3: Thuốc, Nhắc nhở, Hồ sơ sức khỏe, Testing</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8B0000"/>
          </a:solidFill>
          <a:ln/>
        </p:spPr>
      </p:sp>
      <p:sp>
        <p:nvSpPr>
          <p:cNvPr id="3" name="Text 1"/>
          <p:cNvSpPr/>
          <p:nvPr/>
        </p:nvSpPr>
        <p:spPr>
          <a:xfrm>
            <a:off x="457200" y="137160"/>
            <a:ext cx="8229600" cy="548640"/>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Chương 3: User Persona</a:t>
            </a:r>
            <a:endParaRPr lang="en-US" sz="2200" dirty="0"/>
          </a:p>
        </p:txBody>
      </p:sp>
      <p:sp>
        <p:nvSpPr>
          <p:cNvPr id="4" name="Shape 2"/>
          <p:cNvSpPr/>
          <p:nvPr/>
        </p:nvSpPr>
        <p:spPr>
          <a:xfrm>
            <a:off x="0" y="6492240"/>
            <a:ext cx="9144000" cy="365760"/>
          </a:xfrm>
          <a:prstGeom prst="rect">
            <a:avLst/>
          </a:prstGeom>
          <a:solidFill>
            <a:srgbClr val="8B0000"/>
          </a:solidFill>
          <a:ln/>
        </p:spPr>
      </p:sp>
      <p:sp>
        <p:nvSpPr>
          <p:cNvPr id="5" name="Text 3"/>
          <p:cNvSpPr/>
          <p:nvPr/>
        </p:nvSpPr>
        <p:spPr>
          <a:xfrm>
            <a:off x="274320" y="6492240"/>
            <a:ext cx="8229600" cy="365760"/>
          </a:xfrm>
          <a:prstGeom prst="rect">
            <a:avLst/>
          </a:prstGeom>
          <a:noFill/>
          <a:ln/>
        </p:spPr>
        <p:txBody>
          <a:bodyPr wrap="square" rtlCol="0" anchor="ctr"/>
          <a:lstStyle/>
          <a:p>
            <a:pPr indent="0" marL="0">
              <a:buNone/>
            </a:pPr>
            <a:r>
              <a:rPr lang="en-US" sz="900" dirty="0">
                <a:solidFill>
                  <a:srgbClr val="FFFFFF"/>
                </a:solidFill>
                <a:latin typeface="Arial" pitchFamily="34" charset="0"/>
                <a:ea typeface="Arial" pitchFamily="34" charset="-122"/>
                <a:cs typeface="Arial" pitchFamily="34" charset="-120"/>
              </a:rPr>
              <a:t>Đại học Bách khoa Hà Nội | Nhóm 10</a:t>
            </a:r>
            <a:endParaRPr lang="en-US" sz="900" dirty="0"/>
          </a:p>
        </p:txBody>
      </p:sp>
      <p:sp>
        <p:nvSpPr>
          <p:cNvPr id="6" name="Text 4"/>
          <p:cNvSpPr/>
          <p:nvPr/>
        </p:nvSpPr>
        <p:spPr>
          <a:xfrm>
            <a:off x="548640" y="1097280"/>
            <a:ext cx="8046720" cy="5029200"/>
          </a:xfrm>
          <a:prstGeom prst="rect">
            <a:avLst/>
          </a:prstGeom>
          <a:noFill/>
          <a:ln/>
        </p:spPr>
        <p:txBody>
          <a:bodyPr wrap="square" rtlCol="0" anchor="t"/>
          <a:lstStyle/>
          <a:p>
            <a:pPr marL="342900" indent="-342900">
              <a:spcAft>
                <a:spcPts val="600"/>
              </a:spcAft>
              <a:buSzPct val="100000"/>
              <a:buChar char="•"/>
            </a:pPr>
            <a:r>
              <a:rPr lang="en-US" sz="1400" dirty="0">
                <a:solidFill>
                  <a:srgbClr val="1A1A1A"/>
                </a:solidFill>
                <a:latin typeface="Arial" pitchFamily="34" charset="0"/>
                <a:ea typeface="Arial" pitchFamily="34" charset="-122"/>
                <a:cs typeface="Arial" pitchFamily="34" charset="-120"/>
              </a:rPr>
              <a:t>Persona 1 - Chị Lan (32 tuổi, nhân viên văn phòng):</a:t>
            </a:r>
            <a:endParaRPr lang="en-US" sz="1400" dirty="0"/>
          </a:p>
          <a:p>
            <a:pPr marL="342900" indent="-342900">
              <a:spcAft>
                <a:spcPts val="600"/>
              </a:spcAft>
              <a:buSzPct val="100000"/>
              <a:buChar char="•"/>
            </a:pPr>
            <a:r>
              <a:rPr lang="en-US" sz="1400" dirty="0">
                <a:solidFill>
                  <a:srgbClr val="1A1A1A"/>
                </a:solidFill>
                <a:latin typeface="Arial" pitchFamily="34" charset="0"/>
                <a:ea typeface="Arial" pitchFamily="34" charset="-122"/>
                <a:cs typeface="Arial" pitchFamily="34" charset="-120"/>
              </a:rPr>
              <a:t>  → Bận rộn, cần tư vấn nhanh triệu chứng cho con</a:t>
            </a:r>
            <a:endParaRPr lang="en-US" sz="1400" dirty="0"/>
          </a:p>
          <a:p>
            <a:pPr marL="342900" indent="-342900">
              <a:spcAft>
                <a:spcPts val="600"/>
              </a:spcAft>
              <a:buSzPct val="100000"/>
              <a:buChar char="•"/>
            </a:pPr>
            <a:r>
              <a:rPr lang="en-US" sz="1400" dirty="0">
                <a:solidFill>
                  <a:srgbClr val="1A1A1A"/>
                </a:solidFill>
                <a:latin typeface="Arial" pitchFamily="34" charset="0"/>
                <a:ea typeface="Arial" pitchFamily="34" charset="-122"/>
                <a:cs typeface="Arial" pitchFamily="34" charset="-120"/>
              </a:rPr>
              <a:t>  → Pain: Không biết khi nào cần đưa con đi khám ngay</a:t>
            </a:r>
            <a:endParaRPr lang="en-US" sz="1400" dirty="0"/>
          </a:p>
          <a:p>
            <a:pPr marL="342900" indent="-342900">
              <a:spcAft>
                <a:spcPts val="600"/>
              </a:spcAft>
              <a:buSzPct val="100000"/>
              <a:buChar char="•"/>
            </a:pPr>
            <a:endParaRPr lang="en-US" sz="1400" dirty="0"/>
          </a:p>
          <a:p>
            <a:pPr marL="342900" indent="-342900">
              <a:spcAft>
                <a:spcPts val="600"/>
              </a:spcAft>
              <a:buSzPct val="100000"/>
              <a:buChar char="•"/>
            </a:pPr>
            <a:r>
              <a:rPr lang="en-US" sz="1400" dirty="0">
                <a:solidFill>
                  <a:srgbClr val="1A1A1A"/>
                </a:solidFill>
                <a:latin typeface="Arial" pitchFamily="34" charset="0"/>
                <a:ea typeface="Arial" pitchFamily="34" charset="-122"/>
                <a:cs typeface="Arial" pitchFamily="34" charset="-120"/>
              </a:rPr>
              <a:t>Persona 2 - Chú Chiến (62 tuổi, hưu trí):</a:t>
            </a:r>
            <a:endParaRPr lang="en-US" sz="1400" dirty="0"/>
          </a:p>
          <a:p>
            <a:pPr marL="342900" indent="-342900">
              <a:spcAft>
                <a:spcPts val="600"/>
              </a:spcAft>
              <a:buSzPct val="100000"/>
              <a:buChar char="•"/>
            </a:pPr>
            <a:r>
              <a:rPr lang="en-US" sz="1400" dirty="0">
                <a:solidFill>
                  <a:srgbClr val="1A1A1A"/>
                </a:solidFill>
                <a:latin typeface="Arial" pitchFamily="34" charset="0"/>
                <a:ea typeface="Arial" pitchFamily="34" charset="-122"/>
                <a:cs typeface="Arial" pitchFamily="34" charset="-120"/>
              </a:rPr>
              <a:t>  → Bệnh mãn tính, cần nhắc uống thuốc hàng ngày</a:t>
            </a:r>
            <a:endParaRPr lang="en-US" sz="1400" dirty="0"/>
          </a:p>
          <a:p>
            <a:pPr marL="342900" indent="-342900">
              <a:spcAft>
                <a:spcPts val="600"/>
              </a:spcAft>
              <a:buSzPct val="100000"/>
              <a:buChar char="•"/>
            </a:pPr>
            <a:r>
              <a:rPr lang="en-US" sz="1400" dirty="0">
                <a:solidFill>
                  <a:srgbClr val="1A1A1A"/>
                </a:solidFill>
                <a:latin typeface="Arial" pitchFamily="34" charset="0"/>
                <a:ea typeface="Arial" pitchFamily="34" charset="-122"/>
                <a:cs typeface="Arial" pitchFamily="34" charset="-120"/>
              </a:rPr>
              <a:t>  → Pain: Khó dùng app phức tạp, chữ nhỏ, nhiều bước</a:t>
            </a:r>
            <a:endParaRPr lang="en-US" sz="1400" dirty="0"/>
          </a:p>
          <a:p>
            <a:pPr marL="342900" indent="-342900">
              <a:spcAft>
                <a:spcPts val="600"/>
              </a:spcAft>
              <a:buSzPct val="100000"/>
              <a:buChar char="•"/>
            </a:pPr>
            <a:endParaRPr lang="en-US" sz="1400" dirty="0"/>
          </a:p>
          <a:p>
            <a:pPr marL="342900" indent="-342900">
              <a:spcAft>
                <a:spcPts val="600"/>
              </a:spcAft>
              <a:buSzPct val="100000"/>
              <a:buChar char="•"/>
            </a:pPr>
            <a:r>
              <a:rPr lang="en-US" sz="1400" dirty="0">
                <a:solidFill>
                  <a:srgbClr val="1A1A1A"/>
                </a:solidFill>
                <a:latin typeface="Arial" pitchFamily="34" charset="0"/>
                <a:ea typeface="Arial" pitchFamily="34" charset="-122"/>
                <a:cs typeface="Arial" pitchFamily="34" charset="-120"/>
              </a:rPr>
              <a:t>Persona 3 - Bác sĩ Hùng (45 tuổi, BS gia đình):</a:t>
            </a:r>
            <a:endParaRPr lang="en-US" sz="1400" dirty="0"/>
          </a:p>
          <a:p>
            <a:pPr marL="342900" indent="-342900">
              <a:spcAft>
                <a:spcPts val="600"/>
              </a:spcAft>
              <a:buSzPct val="100000"/>
              <a:buChar char="•"/>
            </a:pPr>
            <a:r>
              <a:rPr lang="en-US" sz="1400" dirty="0">
                <a:solidFill>
                  <a:srgbClr val="1A1A1A"/>
                </a:solidFill>
                <a:latin typeface="Arial" pitchFamily="34" charset="0"/>
                <a:ea typeface="Arial" pitchFamily="34" charset="-122"/>
                <a:cs typeface="Arial" pitchFamily="34" charset="-120"/>
              </a:rPr>
              <a:t>  → Cần chatbot hỗ trợ sàng lọc, không lấn sân chẩn đoán</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8B0000"/>
          </a:solidFill>
          <a:ln/>
        </p:spPr>
      </p:sp>
      <p:sp>
        <p:nvSpPr>
          <p:cNvPr id="3" name="Text 1"/>
          <p:cNvSpPr/>
          <p:nvPr/>
        </p:nvSpPr>
        <p:spPr>
          <a:xfrm>
            <a:off x="457200" y="137160"/>
            <a:ext cx="8229600" cy="548640"/>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Chương 3: Customer Journey Map</a:t>
            </a:r>
            <a:endParaRPr lang="en-US" sz="2200" dirty="0"/>
          </a:p>
        </p:txBody>
      </p:sp>
      <p:sp>
        <p:nvSpPr>
          <p:cNvPr id="4" name="Shape 2"/>
          <p:cNvSpPr/>
          <p:nvPr/>
        </p:nvSpPr>
        <p:spPr>
          <a:xfrm>
            <a:off x="0" y="6492240"/>
            <a:ext cx="9144000" cy="365760"/>
          </a:xfrm>
          <a:prstGeom prst="rect">
            <a:avLst/>
          </a:prstGeom>
          <a:solidFill>
            <a:srgbClr val="8B0000"/>
          </a:solidFill>
          <a:ln/>
        </p:spPr>
      </p:sp>
      <p:sp>
        <p:nvSpPr>
          <p:cNvPr id="5" name="Text 3"/>
          <p:cNvSpPr/>
          <p:nvPr/>
        </p:nvSpPr>
        <p:spPr>
          <a:xfrm>
            <a:off x="274320" y="6492240"/>
            <a:ext cx="8229600" cy="365760"/>
          </a:xfrm>
          <a:prstGeom prst="rect">
            <a:avLst/>
          </a:prstGeom>
          <a:noFill/>
          <a:ln/>
        </p:spPr>
        <p:txBody>
          <a:bodyPr wrap="square" rtlCol="0" anchor="ctr"/>
          <a:lstStyle/>
          <a:p>
            <a:pPr indent="0" marL="0">
              <a:buNone/>
            </a:pPr>
            <a:r>
              <a:rPr lang="en-US" sz="900" dirty="0">
                <a:solidFill>
                  <a:srgbClr val="FFFFFF"/>
                </a:solidFill>
                <a:latin typeface="Arial" pitchFamily="34" charset="0"/>
                <a:ea typeface="Arial" pitchFamily="34" charset="-122"/>
                <a:cs typeface="Arial" pitchFamily="34" charset="-120"/>
              </a:rPr>
              <a:t>Đại học Bách khoa Hà Nội | Nhóm 10</a:t>
            </a:r>
            <a:endParaRPr lang="en-US" sz="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274320" y="1188720"/>
          <a:ext cx="8595360" cy="914400"/>
        </p:xfrm>
        <a:graphic>
          <a:graphicData uri="http://schemas.openxmlformats.org/drawingml/2006/table">
            <a:tbl>
              <a:tblPr/>
              <a:tblGrid>
                <a:gridCol w="1371600"/>
                <a:gridCol w="2103120"/>
                <a:gridCol w="1371600"/>
                <a:gridCol w="3749040"/>
              </a:tblGrid>
              <a:tr h="0">
                <a:tc>
                  <a:txBody>
                    <a:bodyPr/>
                    <a:lstStyle/>
                    <a:p>
                      <a:pPr indent="0" marL="0">
                        <a:buNone/>
                      </a:pPr>
                      <a:r>
                        <a:rPr lang="en-US" sz="1100" dirty="0">
                          <a:solidFill>
                            <a:srgbClr val="000000"/>
                          </a:solidFill>
                          <a:latin typeface="Arial" pitchFamily="34" charset="0"/>
                          <a:ea typeface="Arial" pitchFamily="34" charset="-122"/>
                          <a:cs typeface="Arial" pitchFamily="34" charset="-120"/>
                        </a:rPr>
                        <a:t>Giai đoạn</a:t>
                      </a:r>
                      <a:endParaRPr lang="en-US" sz="11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Hành vi</a:t>
                      </a:r>
                      <a:endParaRPr lang="en-US" sz="11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Cảm xúc</a:t>
                      </a:r>
                      <a:endParaRPr lang="en-US" sz="11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Pain Point</a:t>
                      </a:r>
                      <a:endParaRPr lang="en-US" sz="11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r>
              <a:tr h="0">
                <a:tc>
                  <a:txBody>
                    <a:bodyPr/>
                    <a:lstStyle/>
                    <a:p>
                      <a:pPr indent="0" marL="0">
                        <a:buNone/>
                      </a:pPr>
                      <a:r>
                        <a:rPr lang="en-US" sz="1100" dirty="0">
                          <a:solidFill>
                            <a:srgbClr val="000000"/>
                          </a:solidFill>
                          <a:latin typeface="Arial" pitchFamily="34" charset="0"/>
                          <a:ea typeface="Arial" pitchFamily="34" charset="-122"/>
                          <a:cs typeface="Arial" pitchFamily="34" charset="-120"/>
                        </a:rPr>
                        <a:t>Nhận biết</a:t>
                      </a:r>
                      <a:endParaRPr lang="en-US" sz="11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Tìm kiếm Google</a:t>
                      </a:r>
                      <a:endParaRPr lang="en-US" sz="11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Lo lắng</a:t>
                      </a:r>
                      <a:endParaRPr lang="en-US" sz="11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Thông tin nhiễu, không tin cậy</a:t>
                      </a:r>
                      <a:endParaRPr lang="en-US" sz="11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r>
              <a:tr h="0">
                <a:tc>
                  <a:txBody>
                    <a:bodyPr/>
                    <a:lstStyle/>
                    <a:p>
                      <a:pPr indent="0" marL="0">
                        <a:buNone/>
                      </a:pPr>
                      <a:r>
                        <a:rPr lang="en-US" sz="1100" dirty="0">
                          <a:solidFill>
                            <a:srgbClr val="000000"/>
                          </a:solidFill>
                          <a:latin typeface="Arial" pitchFamily="34" charset="0"/>
                          <a:ea typeface="Arial" pitchFamily="34" charset="-122"/>
                          <a:cs typeface="Arial" pitchFamily="34" charset="-120"/>
                        </a:rPr>
                        <a:t>Tương tác</a:t>
                      </a:r>
                      <a:endParaRPr lang="en-US" sz="11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Chat với AI</a:t>
                      </a:r>
                      <a:endParaRPr lang="en-US" sz="11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Hy vọng</a:t>
                      </a:r>
                      <a:endParaRPr lang="en-US" sz="11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Bot trả lời chung chung</a:t>
                      </a:r>
                      <a:endParaRPr lang="en-US" sz="11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r>
              <a:tr h="0">
                <a:tc>
                  <a:txBody>
                    <a:bodyPr/>
                    <a:lstStyle/>
                    <a:p>
                      <a:pPr indent="0" marL="0">
                        <a:buNone/>
                      </a:pPr>
                      <a:r>
                        <a:rPr lang="en-US" sz="1100" dirty="0">
                          <a:solidFill>
                            <a:srgbClr val="000000"/>
                          </a:solidFill>
                          <a:latin typeface="Arial" pitchFamily="34" charset="0"/>
                          <a:ea typeface="Arial" pitchFamily="34" charset="-122"/>
                          <a:cs typeface="Arial" pitchFamily="34" charset="-120"/>
                        </a:rPr>
                        <a:t>Đặt lịch</a:t>
                      </a:r>
                      <a:endParaRPr lang="en-US" sz="11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Chọn BS, phòng khám</a:t>
                      </a:r>
                      <a:endParaRPr lang="en-US" sz="11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Hài lòng</a:t>
                      </a:r>
                      <a:endParaRPr lang="en-US" sz="11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Quy trình phức tạp</a:t>
                      </a:r>
                      <a:endParaRPr lang="en-US" sz="11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r>
              <a:tr h="0">
                <a:tc>
                  <a:txBody>
                    <a:bodyPr/>
                    <a:lstStyle/>
                    <a:p>
                      <a:pPr indent="0" marL="0">
                        <a:buNone/>
                      </a:pPr>
                      <a:r>
                        <a:rPr lang="en-US" sz="1100" dirty="0">
                          <a:solidFill>
                            <a:srgbClr val="000000"/>
                          </a:solidFill>
                          <a:latin typeface="Arial" pitchFamily="34" charset="0"/>
                          <a:ea typeface="Arial" pitchFamily="34" charset="-122"/>
                          <a:cs typeface="Arial" pitchFamily="34" charset="-120"/>
                        </a:rPr>
                        <a:t>Theo dõi</a:t>
                      </a:r>
                      <a:endParaRPr lang="en-US" sz="11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Nhắc thuốc, xem hồ sơ</a:t>
                      </a:r>
                      <a:endParaRPr lang="en-US" sz="11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Yên tâm</a:t>
                      </a:r>
                      <a:endParaRPr lang="en-US" sz="11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Quên uống thuốc</a:t>
                      </a:r>
                      <a:endParaRPr lang="en-US" sz="11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8B0000"/>
          </a:solidFill>
          <a:ln/>
        </p:spPr>
      </p:sp>
      <p:sp>
        <p:nvSpPr>
          <p:cNvPr id="3" name="Text 1"/>
          <p:cNvSpPr/>
          <p:nvPr/>
        </p:nvSpPr>
        <p:spPr>
          <a:xfrm>
            <a:off x="457200" y="137160"/>
            <a:ext cx="8229600" cy="548640"/>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Chương 3: POV &amp; How Might We</a:t>
            </a:r>
            <a:endParaRPr lang="en-US" sz="2200" dirty="0"/>
          </a:p>
        </p:txBody>
      </p:sp>
      <p:sp>
        <p:nvSpPr>
          <p:cNvPr id="4" name="Shape 2"/>
          <p:cNvSpPr/>
          <p:nvPr/>
        </p:nvSpPr>
        <p:spPr>
          <a:xfrm>
            <a:off x="0" y="6492240"/>
            <a:ext cx="9144000" cy="365760"/>
          </a:xfrm>
          <a:prstGeom prst="rect">
            <a:avLst/>
          </a:prstGeom>
          <a:solidFill>
            <a:srgbClr val="8B0000"/>
          </a:solidFill>
          <a:ln/>
        </p:spPr>
      </p:sp>
      <p:sp>
        <p:nvSpPr>
          <p:cNvPr id="5" name="Text 3"/>
          <p:cNvSpPr/>
          <p:nvPr/>
        </p:nvSpPr>
        <p:spPr>
          <a:xfrm>
            <a:off x="274320" y="6492240"/>
            <a:ext cx="8229600" cy="365760"/>
          </a:xfrm>
          <a:prstGeom prst="rect">
            <a:avLst/>
          </a:prstGeom>
          <a:noFill/>
          <a:ln/>
        </p:spPr>
        <p:txBody>
          <a:bodyPr wrap="square" rtlCol="0" anchor="ctr"/>
          <a:lstStyle/>
          <a:p>
            <a:pPr indent="0" marL="0">
              <a:buNone/>
            </a:pPr>
            <a:r>
              <a:rPr lang="en-US" sz="900" dirty="0">
                <a:solidFill>
                  <a:srgbClr val="FFFFFF"/>
                </a:solidFill>
                <a:latin typeface="Arial" pitchFamily="34" charset="0"/>
                <a:ea typeface="Arial" pitchFamily="34" charset="-122"/>
                <a:cs typeface="Arial" pitchFamily="34" charset="-120"/>
              </a:rPr>
              <a:t>Đại học Bách khoa Hà Nội | Nhóm 10</a:t>
            </a:r>
            <a:endParaRPr lang="en-US" sz="900" dirty="0"/>
          </a:p>
        </p:txBody>
      </p:sp>
      <p:sp>
        <p:nvSpPr>
          <p:cNvPr id="6" name="Text 4"/>
          <p:cNvSpPr/>
          <p:nvPr/>
        </p:nvSpPr>
        <p:spPr>
          <a:xfrm>
            <a:off x="548640" y="1097280"/>
            <a:ext cx="8046720" cy="914400"/>
          </a:xfrm>
          <a:prstGeom prst="roundRect">
            <a:avLst/>
          </a:prstGeom>
          <a:solidFill>
            <a:srgbClr val="F5F5F5"/>
          </a:solidFill>
          <a:ln/>
        </p:spPr>
        <p:txBody>
          <a:bodyPr wrap="square" rtlCol="0" anchor="ctr"/>
          <a:lstStyle/>
          <a:p>
            <a:pPr indent="0" marL="0">
              <a:buNone/>
            </a:pPr>
            <a:r>
              <a:rPr lang="en-US" sz="1300" i="1" dirty="0">
                <a:solidFill>
                  <a:srgbClr val="1A1A1A"/>
                </a:solidFill>
                <a:latin typeface="Arial" pitchFamily="34" charset="0"/>
                <a:ea typeface="Arial" pitchFamily="34" charset="-122"/>
                <a:cs typeface="Arial" pitchFamily="34" charset="-120"/>
              </a:rPr>
              <a:t>POV: Người chăm sóc gia đình cần một công cụ đáng tin cậy để tư vấn sức khỏe ban đầu vì họ không có chuyên môn y tế và lo sợ bỏ lỡ dấu hiệu nguy hiểm.</a:t>
            </a:r>
            <a:endParaRPr lang="en-US" sz="1300" dirty="0"/>
          </a:p>
        </p:txBody>
      </p:sp>
      <p:sp>
        <p:nvSpPr>
          <p:cNvPr id="7" name="Text 5"/>
          <p:cNvSpPr/>
          <p:nvPr/>
        </p:nvSpPr>
        <p:spPr>
          <a:xfrm>
            <a:off x="548640" y="2560320"/>
            <a:ext cx="8046720" cy="5029200"/>
          </a:xfrm>
          <a:prstGeom prst="rect">
            <a:avLst/>
          </a:prstGeom>
          <a:noFill/>
          <a:ln/>
        </p:spPr>
        <p:txBody>
          <a:bodyPr wrap="square" rtlCol="0" anchor="t"/>
          <a:lstStyle/>
          <a:p>
            <a:pPr marL="342900" indent="-342900">
              <a:spcAft>
                <a:spcPts val="600"/>
              </a:spcAft>
              <a:buSzPct val="100000"/>
              <a:buChar char="•"/>
            </a:pPr>
            <a:r>
              <a:rPr lang="en-US" sz="1400" dirty="0">
                <a:solidFill>
                  <a:srgbClr val="1A1A1A"/>
                </a:solidFill>
                <a:latin typeface="Arial" pitchFamily="34" charset="0"/>
                <a:ea typeface="Arial" pitchFamily="34" charset="-122"/>
                <a:cs typeface="Arial" pitchFamily="34" charset="-120"/>
              </a:rPr>
              <a:t>HMW1: Làm sao để chatbot tư vấn triệu chứng chính xác mà không thay thế bác sĩ?</a:t>
            </a:r>
            <a:endParaRPr lang="en-US" sz="1400" dirty="0"/>
          </a:p>
          <a:p>
            <a:pPr marL="342900" indent="-342900">
              <a:spcAft>
                <a:spcPts val="600"/>
              </a:spcAft>
              <a:buSzPct val="100000"/>
              <a:buChar char="•"/>
            </a:pPr>
            <a:r>
              <a:rPr lang="en-US" sz="1400" dirty="0">
                <a:solidFill>
                  <a:srgbClr val="1A1A1A"/>
                </a:solidFill>
                <a:latin typeface="Arial" pitchFamily="34" charset="0"/>
                <a:ea typeface="Arial" pitchFamily="34" charset="-122"/>
                <a:cs typeface="Arial" pitchFamily="34" charset="-120"/>
              </a:rPr>
              <a:t>HMW2: Làm sao để người cao tuổi dễ dàng sử dụng chatbot?</a:t>
            </a:r>
            <a:endParaRPr lang="en-US" sz="1400" dirty="0"/>
          </a:p>
          <a:p>
            <a:pPr marL="342900" indent="-342900">
              <a:spcAft>
                <a:spcPts val="600"/>
              </a:spcAft>
              <a:buSzPct val="100000"/>
              <a:buChar char="•"/>
            </a:pPr>
            <a:r>
              <a:rPr lang="en-US" sz="1400" dirty="0">
                <a:solidFill>
                  <a:srgbClr val="1A1A1A"/>
                </a:solidFill>
                <a:latin typeface="Arial" pitchFamily="34" charset="0"/>
                <a:ea typeface="Arial" pitchFamily="34" charset="-122"/>
                <a:cs typeface="Arial" pitchFamily="34" charset="-120"/>
              </a:rPr>
              <a:t>HMW3: Làm sao để tích hợp nhắc uống thuốc một cách tự nhiên?</a:t>
            </a:r>
            <a:endParaRPr lang="en-US" sz="1400" dirty="0"/>
          </a:p>
          <a:p>
            <a:pPr marL="342900" indent="-342900">
              <a:spcAft>
                <a:spcPts val="600"/>
              </a:spcAft>
              <a:buSzPct val="100000"/>
              <a:buChar char="•"/>
            </a:pPr>
            <a:r>
              <a:rPr lang="en-US" sz="1400" dirty="0">
                <a:solidFill>
                  <a:srgbClr val="1A1A1A"/>
                </a:solidFill>
                <a:latin typeface="Arial" pitchFamily="34" charset="0"/>
                <a:ea typeface="Arial" pitchFamily="34" charset="-122"/>
                <a:cs typeface="Arial" pitchFamily="34" charset="-120"/>
              </a:rPr>
              <a:t>HMW4: Làm sao để đặt lịch khám nhanh chóng qua hội thoại?</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8B0000"/>
          </a:solidFill>
          <a:ln/>
        </p:spPr>
      </p:sp>
      <p:sp>
        <p:nvSpPr>
          <p:cNvPr id="3" name="Text 1"/>
          <p:cNvSpPr/>
          <p:nvPr/>
        </p:nvSpPr>
        <p:spPr>
          <a:xfrm>
            <a:off x="457200" y="137160"/>
            <a:ext cx="8229600" cy="548640"/>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Chương 4: Brainstorming &amp; Impact-Feasibility</a:t>
            </a:r>
            <a:endParaRPr lang="en-US" sz="2200" dirty="0"/>
          </a:p>
        </p:txBody>
      </p:sp>
      <p:sp>
        <p:nvSpPr>
          <p:cNvPr id="4" name="Shape 2"/>
          <p:cNvSpPr/>
          <p:nvPr/>
        </p:nvSpPr>
        <p:spPr>
          <a:xfrm>
            <a:off x="0" y="6492240"/>
            <a:ext cx="9144000" cy="365760"/>
          </a:xfrm>
          <a:prstGeom prst="rect">
            <a:avLst/>
          </a:prstGeom>
          <a:solidFill>
            <a:srgbClr val="8B0000"/>
          </a:solidFill>
          <a:ln/>
        </p:spPr>
      </p:sp>
      <p:sp>
        <p:nvSpPr>
          <p:cNvPr id="5" name="Text 3"/>
          <p:cNvSpPr/>
          <p:nvPr/>
        </p:nvSpPr>
        <p:spPr>
          <a:xfrm>
            <a:off x="274320" y="6492240"/>
            <a:ext cx="8229600" cy="365760"/>
          </a:xfrm>
          <a:prstGeom prst="rect">
            <a:avLst/>
          </a:prstGeom>
          <a:noFill/>
          <a:ln/>
        </p:spPr>
        <p:txBody>
          <a:bodyPr wrap="square" rtlCol="0" anchor="ctr"/>
          <a:lstStyle/>
          <a:p>
            <a:pPr indent="0" marL="0">
              <a:buNone/>
            </a:pPr>
            <a:r>
              <a:rPr lang="en-US" sz="900" dirty="0">
                <a:solidFill>
                  <a:srgbClr val="FFFFFF"/>
                </a:solidFill>
                <a:latin typeface="Arial" pitchFamily="34" charset="0"/>
                <a:ea typeface="Arial" pitchFamily="34" charset="-122"/>
                <a:cs typeface="Arial" pitchFamily="34" charset="-120"/>
              </a:rPr>
              <a:t>Đại học Bách khoa Hà Nội | Nhóm 10</a:t>
            </a:r>
            <a:endParaRPr lang="en-US" sz="900" dirty="0"/>
          </a:p>
        </p:txBody>
      </p:sp>
      <p:sp>
        <p:nvSpPr>
          <p:cNvPr id="6" name="Text 4"/>
          <p:cNvSpPr/>
          <p:nvPr/>
        </p:nvSpPr>
        <p:spPr>
          <a:xfrm>
            <a:off x="548640" y="1097280"/>
            <a:ext cx="8046720" cy="5029200"/>
          </a:xfrm>
          <a:prstGeom prst="rect">
            <a:avLst/>
          </a:prstGeom>
          <a:noFill/>
          <a:ln/>
        </p:spPr>
        <p:txBody>
          <a:bodyPr wrap="square" rtlCol="0" anchor="t"/>
          <a:lstStyle/>
          <a:p>
            <a:pPr marL="342900" indent="-342900">
              <a:spcAft>
                <a:spcPts val="600"/>
              </a:spcAft>
              <a:buSzPct val="100000"/>
              <a:buChar char="•"/>
            </a:pPr>
            <a:r>
              <a:rPr lang="en-US" sz="1400" dirty="0">
                <a:solidFill>
                  <a:srgbClr val="1A1A1A"/>
                </a:solidFill>
                <a:latin typeface="Arial" pitchFamily="34" charset="0"/>
                <a:ea typeface="Arial" pitchFamily="34" charset="-122"/>
                <a:cs typeface="Arial" pitchFamily="34" charset="-120"/>
              </a:rPr>
              <a:t>Ý tưởng đã brainstorm:</a:t>
            </a:r>
            <a:endParaRPr lang="en-US" sz="1400" dirty="0"/>
          </a:p>
          <a:p>
            <a:pPr marL="342900" indent="-342900">
              <a:spcAft>
                <a:spcPts val="600"/>
              </a:spcAft>
              <a:buSzPct val="100000"/>
              <a:buChar char="•"/>
            </a:pPr>
            <a:r>
              <a:rPr lang="en-US" sz="1400" dirty="0">
                <a:solidFill>
                  <a:srgbClr val="1A1A1A"/>
                </a:solidFill>
                <a:latin typeface="Arial" pitchFamily="34" charset="0"/>
                <a:ea typeface="Arial" pitchFamily="34" charset="-122"/>
                <a:cs typeface="Arial" pitchFamily="34" charset="-120"/>
              </a:rPr>
              <a:t>  ✅ Chat AI tư vấn triệu chứng (Impact: Cao | Feasibility: Cao)</a:t>
            </a:r>
            <a:endParaRPr lang="en-US" sz="1400" dirty="0"/>
          </a:p>
          <a:p>
            <a:pPr marL="342900" indent="-342900">
              <a:spcAft>
                <a:spcPts val="600"/>
              </a:spcAft>
              <a:buSzPct val="100000"/>
              <a:buChar char="•"/>
            </a:pPr>
            <a:r>
              <a:rPr lang="en-US" sz="1400" dirty="0">
                <a:solidFill>
                  <a:srgbClr val="1A1A1A"/>
                </a:solidFill>
                <a:latin typeface="Arial" pitchFamily="34" charset="0"/>
                <a:ea typeface="Arial" pitchFamily="34" charset="-122"/>
                <a:cs typeface="Arial" pitchFamily="34" charset="-120"/>
              </a:rPr>
              <a:t>  ✅ Đặt lịch khám qua hội thoại (Impact: Cao | Feasibility: Cao)</a:t>
            </a:r>
            <a:endParaRPr lang="en-US" sz="1400" dirty="0"/>
          </a:p>
          <a:p>
            <a:pPr marL="342900" indent="-342900">
              <a:spcAft>
                <a:spcPts val="600"/>
              </a:spcAft>
              <a:buSzPct val="100000"/>
              <a:buChar char="•"/>
            </a:pPr>
            <a:r>
              <a:rPr lang="en-US" sz="1400" dirty="0">
                <a:solidFill>
                  <a:srgbClr val="1A1A1A"/>
                </a:solidFill>
                <a:latin typeface="Arial" pitchFamily="34" charset="0"/>
                <a:ea typeface="Arial" pitchFamily="34" charset="-122"/>
                <a:cs typeface="Arial" pitchFamily="34" charset="-120"/>
              </a:rPr>
              <a:t>  ✅ Nhắc uống thuốc hàng ngày (Impact: TB | Feasibility: Cao)</a:t>
            </a:r>
            <a:endParaRPr lang="en-US" sz="1400" dirty="0"/>
          </a:p>
          <a:p>
            <a:pPr marL="342900" indent="-342900">
              <a:spcAft>
                <a:spcPts val="600"/>
              </a:spcAft>
              <a:buSzPct val="100000"/>
              <a:buChar char="•"/>
            </a:pPr>
            <a:r>
              <a:rPr lang="en-US" sz="1400" dirty="0">
                <a:solidFill>
                  <a:srgbClr val="1A1A1A"/>
                </a:solidFill>
                <a:latin typeface="Arial" pitchFamily="34" charset="0"/>
                <a:ea typeface="Arial" pitchFamily="34" charset="-122"/>
                <a:cs typeface="Arial" pitchFamily="34" charset="-120"/>
              </a:rPr>
              <a:t>  ✅ Phân tích hình ảnh y khoa (Impact: Cao | Feasibility: TB)</a:t>
            </a:r>
            <a:endParaRPr lang="en-US" sz="1400" dirty="0"/>
          </a:p>
          <a:p>
            <a:pPr marL="342900" indent="-342900">
              <a:spcAft>
                <a:spcPts val="600"/>
              </a:spcAft>
              <a:buSzPct val="100000"/>
              <a:buChar char="•"/>
            </a:pPr>
            <a:r>
              <a:rPr lang="en-US" sz="1400" dirty="0">
                <a:solidFill>
                  <a:srgbClr val="1A1A1A"/>
                </a:solidFill>
                <a:latin typeface="Arial" pitchFamily="34" charset="0"/>
                <a:ea typeface="Arial" pitchFamily="34" charset="-122"/>
                <a:cs typeface="Arial" pitchFamily="34" charset="-120"/>
              </a:rPr>
              <a:t>  ⬜ Tư vấn qua giọng nói (Impact: Cao | Feasibility: Thấp)</a:t>
            </a:r>
            <a:endParaRPr lang="en-US" sz="1400" dirty="0"/>
          </a:p>
          <a:p>
            <a:pPr marL="342900" indent="-342900">
              <a:spcAft>
                <a:spcPts val="600"/>
              </a:spcAft>
              <a:buSzPct val="100000"/>
              <a:buChar char="•"/>
            </a:pPr>
            <a:r>
              <a:rPr lang="en-US" sz="1400" dirty="0">
                <a:solidFill>
                  <a:srgbClr val="1A1A1A"/>
                </a:solidFill>
                <a:latin typeface="Arial" pitchFamily="34" charset="0"/>
                <a:ea typeface="Arial" pitchFamily="34" charset="-122"/>
                <a:cs typeface="Arial" pitchFamily="34" charset="-120"/>
              </a:rPr>
              <a:t>  ⬜ Kết nối Video Call bác sĩ (Impact: Cao | Feasibility: Thấp)</a:t>
            </a:r>
            <a:endParaRPr lang="en-US" sz="1400" dirty="0"/>
          </a:p>
          <a:p>
            <a:pPr marL="342900" indent="-342900">
              <a:spcAft>
                <a:spcPts val="600"/>
              </a:spcAft>
              <a:buSzPct val="100000"/>
              <a:buChar char="•"/>
            </a:pPr>
            <a:endParaRPr lang="en-US" sz="1400" dirty="0"/>
          </a:p>
          <a:p>
            <a:pPr marL="342900" indent="-342900">
              <a:spcAft>
                <a:spcPts val="600"/>
              </a:spcAft>
              <a:buSzPct val="100000"/>
              <a:buChar char="•"/>
            </a:pPr>
            <a:r>
              <a:rPr lang="en-US" sz="1400" dirty="0">
                <a:solidFill>
                  <a:srgbClr val="1A1A1A"/>
                </a:solidFill>
                <a:latin typeface="Arial" pitchFamily="34" charset="0"/>
                <a:ea typeface="Arial" pitchFamily="34" charset="-122"/>
                <a:cs typeface="Arial" pitchFamily="34" charset="-120"/>
              </a:rPr>
              <a:t>→ Lựa chọn: 4 ý tưởng đánh dấu ✅ cho MVP</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8B0000"/>
          </a:solidFill>
          <a:ln/>
        </p:spPr>
      </p:sp>
      <p:sp>
        <p:nvSpPr>
          <p:cNvPr id="3" name="Text 1"/>
          <p:cNvSpPr/>
          <p:nvPr/>
        </p:nvSpPr>
        <p:spPr>
          <a:xfrm>
            <a:off x="457200" y="137160"/>
            <a:ext cx="8229600" cy="548640"/>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Chương 4: Chatbot Prototype</a:t>
            </a:r>
            <a:endParaRPr lang="en-US" sz="2200" dirty="0"/>
          </a:p>
        </p:txBody>
      </p:sp>
      <p:sp>
        <p:nvSpPr>
          <p:cNvPr id="4" name="Shape 2"/>
          <p:cNvSpPr/>
          <p:nvPr/>
        </p:nvSpPr>
        <p:spPr>
          <a:xfrm>
            <a:off x="0" y="6492240"/>
            <a:ext cx="9144000" cy="365760"/>
          </a:xfrm>
          <a:prstGeom prst="rect">
            <a:avLst/>
          </a:prstGeom>
          <a:solidFill>
            <a:srgbClr val="8B0000"/>
          </a:solidFill>
          <a:ln/>
        </p:spPr>
      </p:sp>
      <p:sp>
        <p:nvSpPr>
          <p:cNvPr id="5" name="Text 3"/>
          <p:cNvSpPr/>
          <p:nvPr/>
        </p:nvSpPr>
        <p:spPr>
          <a:xfrm>
            <a:off x="274320" y="6492240"/>
            <a:ext cx="8229600" cy="365760"/>
          </a:xfrm>
          <a:prstGeom prst="rect">
            <a:avLst/>
          </a:prstGeom>
          <a:noFill/>
          <a:ln/>
        </p:spPr>
        <p:txBody>
          <a:bodyPr wrap="square" rtlCol="0" anchor="ctr"/>
          <a:lstStyle/>
          <a:p>
            <a:pPr indent="0" marL="0">
              <a:buNone/>
            </a:pPr>
            <a:r>
              <a:rPr lang="en-US" sz="900" dirty="0">
                <a:solidFill>
                  <a:srgbClr val="FFFFFF"/>
                </a:solidFill>
                <a:latin typeface="Arial" pitchFamily="34" charset="0"/>
                <a:ea typeface="Arial" pitchFamily="34" charset="-122"/>
                <a:cs typeface="Arial" pitchFamily="34" charset="-120"/>
              </a:rPr>
              <a:t>Đại học Bách khoa Hà Nội | Nhóm 10</a:t>
            </a:r>
            <a:endParaRPr lang="en-US" sz="900" dirty="0"/>
          </a:p>
        </p:txBody>
      </p:sp>
      <p:sp>
        <p:nvSpPr>
          <p:cNvPr id="6" name="Text 4"/>
          <p:cNvSpPr/>
          <p:nvPr/>
        </p:nvSpPr>
        <p:spPr>
          <a:xfrm>
            <a:off x="548640" y="1097280"/>
            <a:ext cx="8046720" cy="5029200"/>
          </a:xfrm>
          <a:prstGeom prst="rect">
            <a:avLst/>
          </a:prstGeom>
          <a:noFill/>
          <a:ln/>
        </p:spPr>
        <p:txBody>
          <a:bodyPr wrap="square" rtlCol="0" anchor="t"/>
          <a:lstStyle/>
          <a:p>
            <a:pPr marL="342900" indent="-342900">
              <a:spcAft>
                <a:spcPts val="600"/>
              </a:spcAft>
              <a:buSzPct val="100000"/>
              <a:buChar char="•"/>
            </a:pPr>
            <a:r>
              <a:rPr lang="en-US" sz="1400" dirty="0">
                <a:solidFill>
                  <a:srgbClr val="1A1A1A"/>
                </a:solidFill>
                <a:latin typeface="Arial" pitchFamily="34" charset="0"/>
                <a:ea typeface="Arial" pitchFamily="34" charset="-122"/>
                <a:cs typeface="Arial" pitchFamily="34" charset="-120"/>
              </a:rPr>
              <a:t>Công nghệ sử dụng:</a:t>
            </a:r>
            <a:endParaRPr lang="en-US" sz="1400" dirty="0"/>
          </a:p>
          <a:p>
            <a:pPr marL="342900" indent="-342900">
              <a:spcAft>
                <a:spcPts val="600"/>
              </a:spcAft>
              <a:buSzPct val="100000"/>
              <a:buChar char="•"/>
            </a:pPr>
            <a:r>
              <a:rPr lang="en-US" sz="1400" dirty="0">
                <a:solidFill>
                  <a:srgbClr val="1A1A1A"/>
                </a:solidFill>
                <a:latin typeface="Arial" pitchFamily="34" charset="0"/>
                <a:ea typeface="Arial" pitchFamily="34" charset="-122"/>
                <a:cs typeface="Arial" pitchFamily="34" charset="-120"/>
              </a:rPr>
              <a:t>  • Frontend: React + TypeScript + Vite + TailwindCSS</a:t>
            </a:r>
            <a:endParaRPr lang="en-US" sz="1400" dirty="0"/>
          </a:p>
          <a:p>
            <a:pPr marL="342900" indent="-342900">
              <a:spcAft>
                <a:spcPts val="600"/>
              </a:spcAft>
              <a:buSzPct val="100000"/>
              <a:buChar char="•"/>
            </a:pPr>
            <a:r>
              <a:rPr lang="en-US" sz="1400" dirty="0">
                <a:solidFill>
                  <a:srgbClr val="1A1A1A"/>
                </a:solidFill>
                <a:latin typeface="Arial" pitchFamily="34" charset="0"/>
                <a:ea typeface="Arial" pitchFamily="34" charset="-122"/>
                <a:cs typeface="Arial" pitchFamily="34" charset="-120"/>
              </a:rPr>
              <a:t>  • Backend: Node.js + Express + Drizzle ORM</a:t>
            </a:r>
            <a:endParaRPr lang="en-US" sz="1400" dirty="0"/>
          </a:p>
          <a:p>
            <a:pPr marL="342900" indent="-342900">
              <a:spcAft>
                <a:spcPts val="600"/>
              </a:spcAft>
              <a:buSzPct val="100000"/>
              <a:buChar char="•"/>
            </a:pPr>
            <a:r>
              <a:rPr lang="en-US" sz="1400" dirty="0">
                <a:solidFill>
                  <a:srgbClr val="1A1A1A"/>
                </a:solidFill>
                <a:latin typeface="Arial" pitchFamily="34" charset="0"/>
                <a:ea typeface="Arial" pitchFamily="34" charset="-122"/>
                <a:cs typeface="Arial" pitchFamily="34" charset="-120"/>
              </a:rPr>
              <a:t>  • Database: SQLite (file-based, nhẹ)</a:t>
            </a:r>
            <a:endParaRPr lang="en-US" sz="1400" dirty="0"/>
          </a:p>
          <a:p>
            <a:pPr marL="342900" indent="-342900">
              <a:spcAft>
                <a:spcPts val="600"/>
              </a:spcAft>
              <a:buSzPct val="100000"/>
              <a:buChar char="•"/>
            </a:pPr>
            <a:r>
              <a:rPr lang="en-US" sz="1400" dirty="0">
                <a:solidFill>
                  <a:srgbClr val="1A1A1A"/>
                </a:solidFill>
                <a:latin typeface="Arial" pitchFamily="34" charset="0"/>
                <a:ea typeface="Arial" pitchFamily="34" charset="-122"/>
                <a:cs typeface="Arial" pitchFamily="34" charset="-120"/>
              </a:rPr>
              <a:t>  • AI Engine: Google Gemini 2.5 Flash API</a:t>
            </a:r>
            <a:endParaRPr lang="en-US" sz="1400" dirty="0"/>
          </a:p>
          <a:p>
            <a:pPr marL="342900" indent="-342900">
              <a:spcAft>
                <a:spcPts val="600"/>
              </a:spcAft>
              <a:buSzPct val="100000"/>
              <a:buChar char="•"/>
            </a:pPr>
            <a:r>
              <a:rPr lang="en-US" sz="1400" dirty="0">
                <a:solidFill>
                  <a:srgbClr val="1A1A1A"/>
                </a:solidFill>
                <a:latin typeface="Arial" pitchFamily="34" charset="0"/>
                <a:ea typeface="Arial" pitchFamily="34" charset="-122"/>
                <a:cs typeface="Arial" pitchFamily="34" charset="-120"/>
              </a:rPr>
              <a:t>  • Auth: JWT (JSON Web Token)</a:t>
            </a:r>
            <a:endParaRPr lang="en-US" sz="1400" dirty="0"/>
          </a:p>
          <a:p>
            <a:pPr marL="342900" indent="-342900">
              <a:spcAft>
                <a:spcPts val="600"/>
              </a:spcAft>
              <a:buSzPct val="100000"/>
              <a:buChar char="•"/>
            </a:pPr>
            <a:r>
              <a:rPr lang="en-US" sz="1400" dirty="0">
                <a:solidFill>
                  <a:srgbClr val="1A1A1A"/>
                </a:solidFill>
                <a:latin typeface="Arial" pitchFamily="34" charset="0"/>
                <a:ea typeface="Arial" pitchFamily="34" charset="-122"/>
                <a:cs typeface="Arial" pitchFamily="34" charset="-120"/>
              </a:rPr>
              <a:t>  • Deploy: Docker + Docker Compose</a:t>
            </a:r>
            <a:endParaRPr lang="en-US" sz="1400" dirty="0"/>
          </a:p>
          <a:p>
            <a:pPr marL="342900" indent="-342900">
              <a:spcAft>
                <a:spcPts val="600"/>
              </a:spcAft>
              <a:buSzPct val="100000"/>
              <a:buChar char="•"/>
            </a:pPr>
            <a:endParaRPr lang="en-US" sz="1400" dirty="0"/>
          </a:p>
          <a:p>
            <a:pPr marL="342900" indent="-342900">
              <a:spcAft>
                <a:spcPts val="600"/>
              </a:spcAft>
              <a:buSzPct val="100000"/>
              <a:buChar char="•"/>
            </a:pPr>
            <a:r>
              <a:rPr lang="en-US" sz="1400" dirty="0">
                <a:solidFill>
                  <a:srgbClr val="1A1A1A"/>
                </a:solidFill>
                <a:latin typeface="Arial" pitchFamily="34" charset="0"/>
                <a:ea typeface="Arial" pitchFamily="34" charset="-122"/>
                <a:cs typeface="Arial" pitchFamily="34" charset="-120"/>
              </a:rPr>
              <a:t>Tính năng chính:</a:t>
            </a:r>
            <a:endParaRPr lang="en-US" sz="1400" dirty="0"/>
          </a:p>
          <a:p>
            <a:pPr marL="342900" indent="-342900">
              <a:spcAft>
                <a:spcPts val="600"/>
              </a:spcAft>
              <a:buSzPct val="100000"/>
              <a:buChar char="•"/>
            </a:pPr>
            <a:r>
              <a:rPr lang="en-US" sz="1400" dirty="0">
                <a:solidFill>
                  <a:srgbClr val="1A1A1A"/>
                </a:solidFill>
                <a:latin typeface="Arial" pitchFamily="34" charset="0"/>
                <a:ea typeface="Arial" pitchFamily="34" charset="-122"/>
                <a:cs typeface="Arial" pitchFamily="34" charset="-120"/>
              </a:rPr>
              <a:t>  1. Đăng ký / Đăng nhập bảo mật</a:t>
            </a:r>
            <a:endParaRPr lang="en-US" sz="1400" dirty="0"/>
          </a:p>
          <a:p>
            <a:pPr marL="342900" indent="-342900">
              <a:spcAft>
                <a:spcPts val="600"/>
              </a:spcAft>
              <a:buSzPct val="100000"/>
              <a:buChar char="•"/>
            </a:pPr>
            <a:r>
              <a:rPr lang="en-US" sz="1400" dirty="0">
                <a:solidFill>
                  <a:srgbClr val="1A1A1A"/>
                </a:solidFill>
                <a:latin typeface="Arial" pitchFamily="34" charset="0"/>
                <a:ea typeface="Arial" pitchFamily="34" charset="-122"/>
                <a:cs typeface="Arial" pitchFamily="34" charset="-120"/>
              </a:rPr>
              <a:t>  2. Chat AI tư vấn triệu chứng &amp; đặt lịch khám</a:t>
            </a:r>
            <a:endParaRPr lang="en-US" sz="1400" dirty="0"/>
          </a:p>
          <a:p>
            <a:pPr marL="342900" indent="-342900">
              <a:spcAft>
                <a:spcPts val="600"/>
              </a:spcAft>
              <a:buSzPct val="100000"/>
              <a:buChar char="•"/>
            </a:pPr>
            <a:r>
              <a:rPr lang="en-US" sz="1400" dirty="0">
                <a:solidFill>
                  <a:srgbClr val="1A1A1A"/>
                </a:solidFill>
                <a:latin typeface="Arial" pitchFamily="34" charset="0"/>
                <a:ea typeface="Arial" pitchFamily="34" charset="-122"/>
                <a:cs typeface="Arial" pitchFamily="34" charset="-120"/>
              </a:rPr>
              <a:t>  3. Gửi hình ảnh y khoa để AI phân tích</a:t>
            </a:r>
            <a:endParaRPr lang="en-US" sz="1400" dirty="0"/>
          </a:p>
          <a:p>
            <a:pPr marL="342900" indent="-342900">
              <a:spcAft>
                <a:spcPts val="600"/>
              </a:spcAft>
              <a:buSzPct val="100000"/>
              <a:buChar char="•"/>
            </a:pPr>
            <a:r>
              <a:rPr lang="en-US" sz="1400" dirty="0">
                <a:solidFill>
                  <a:srgbClr val="1A1A1A"/>
                </a:solidFill>
                <a:latin typeface="Arial" pitchFamily="34" charset="0"/>
                <a:ea typeface="Arial" pitchFamily="34" charset="-122"/>
                <a:cs typeface="Arial" pitchFamily="34" charset="-120"/>
              </a:rPr>
              <a:t>  4. Danh mục thuốc &amp; Nhắc nhở uống thuốc</a:t>
            </a:r>
            <a:endParaRPr lang="en-US" sz="1400" dirty="0"/>
          </a:p>
          <a:p>
            <a:pPr marL="342900" indent="-342900">
              <a:spcAft>
                <a:spcPts val="600"/>
              </a:spcAft>
              <a:buSzPct val="100000"/>
              <a:buChar char="•"/>
            </a:pPr>
            <a:r>
              <a:rPr lang="en-US" sz="1400" dirty="0">
                <a:solidFill>
                  <a:srgbClr val="1A1A1A"/>
                </a:solidFill>
                <a:latin typeface="Arial" pitchFamily="34" charset="0"/>
                <a:ea typeface="Arial" pitchFamily="34" charset="-122"/>
                <a:cs typeface="Arial" pitchFamily="34" charset="-120"/>
              </a:rPr>
              <a:t>  5. Hồ sơ sức khỏe cá nhân hóa bằng AI</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8B0000"/>
          </a:solidFill>
          <a:ln/>
        </p:spPr>
      </p:sp>
      <p:sp>
        <p:nvSpPr>
          <p:cNvPr id="3" name="Text 1"/>
          <p:cNvSpPr/>
          <p:nvPr/>
        </p:nvSpPr>
        <p:spPr>
          <a:xfrm>
            <a:off x="457200" y="137160"/>
            <a:ext cx="8229600" cy="548640"/>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Chương 5: Product Backlog (User Stories)</a:t>
            </a:r>
            <a:endParaRPr lang="en-US" sz="2200" dirty="0"/>
          </a:p>
        </p:txBody>
      </p:sp>
      <p:sp>
        <p:nvSpPr>
          <p:cNvPr id="4" name="Shape 2"/>
          <p:cNvSpPr/>
          <p:nvPr/>
        </p:nvSpPr>
        <p:spPr>
          <a:xfrm>
            <a:off x="0" y="6492240"/>
            <a:ext cx="9144000" cy="365760"/>
          </a:xfrm>
          <a:prstGeom prst="rect">
            <a:avLst/>
          </a:prstGeom>
          <a:solidFill>
            <a:srgbClr val="8B0000"/>
          </a:solidFill>
          <a:ln/>
        </p:spPr>
      </p:sp>
      <p:sp>
        <p:nvSpPr>
          <p:cNvPr id="5" name="Text 3"/>
          <p:cNvSpPr/>
          <p:nvPr/>
        </p:nvSpPr>
        <p:spPr>
          <a:xfrm>
            <a:off x="274320" y="6492240"/>
            <a:ext cx="8229600" cy="365760"/>
          </a:xfrm>
          <a:prstGeom prst="rect">
            <a:avLst/>
          </a:prstGeom>
          <a:noFill/>
          <a:ln/>
        </p:spPr>
        <p:txBody>
          <a:bodyPr wrap="square" rtlCol="0" anchor="ctr"/>
          <a:lstStyle/>
          <a:p>
            <a:pPr indent="0" marL="0">
              <a:buNone/>
            </a:pPr>
            <a:r>
              <a:rPr lang="en-US" sz="900" dirty="0">
                <a:solidFill>
                  <a:srgbClr val="FFFFFF"/>
                </a:solidFill>
                <a:latin typeface="Arial" pitchFamily="34" charset="0"/>
                <a:ea typeface="Arial" pitchFamily="34" charset="-122"/>
                <a:cs typeface="Arial" pitchFamily="34" charset="-120"/>
              </a:rPr>
              <a:t>Đại học Bách khoa Hà Nội | Nhóm 10</a:t>
            </a:r>
            <a:endParaRPr lang="en-US" sz="9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274320" y="1188720"/>
          <a:ext cx="8595360" cy="914400"/>
        </p:xfrm>
        <a:graphic>
          <a:graphicData uri="http://schemas.openxmlformats.org/drawingml/2006/table">
            <a:tbl>
              <a:tblPr/>
              <a:tblGrid>
                <a:gridCol w="731520"/>
                <a:gridCol w="4114800"/>
                <a:gridCol w="914400"/>
                <a:gridCol w="731520"/>
              </a:tblGrid>
              <a:tr h="0">
                <a:tc>
                  <a:txBody>
                    <a:bodyPr/>
                    <a:lstStyle/>
                    <a:p>
                      <a:pPr indent="0" marL="0">
                        <a:buNone/>
                      </a:pPr>
                      <a:r>
                        <a:rPr lang="en-US" sz="1100" dirty="0">
                          <a:solidFill>
                            <a:srgbClr val="000000"/>
                          </a:solidFill>
                          <a:latin typeface="Arial" pitchFamily="34" charset="0"/>
                          <a:ea typeface="Arial" pitchFamily="34" charset="-122"/>
                          <a:cs typeface="Arial" pitchFamily="34" charset="-120"/>
                        </a:rPr>
                        <a:t>ID</a:t>
                      </a:r>
                      <a:endParaRPr lang="en-US" sz="11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User Story</a:t>
                      </a:r>
                      <a:endParaRPr lang="en-US" sz="11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Priority</a:t>
                      </a:r>
                      <a:endParaRPr lang="en-US" sz="11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SP</a:t>
                      </a:r>
                      <a:endParaRPr lang="en-US" sz="11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r>
              <a:tr h="0">
                <a:tc>
                  <a:txBody>
                    <a:bodyPr/>
                    <a:lstStyle/>
                    <a:p>
                      <a:pPr indent="0" marL="0">
                        <a:buNone/>
                      </a:pPr>
                      <a:r>
                        <a:rPr lang="en-US" sz="1100" dirty="0">
                          <a:solidFill>
                            <a:srgbClr val="000000"/>
                          </a:solidFill>
                          <a:latin typeface="Arial" pitchFamily="34" charset="0"/>
                          <a:ea typeface="Arial" pitchFamily="34" charset="-122"/>
                          <a:cs typeface="Arial" pitchFamily="34" charset="-120"/>
                        </a:rPr>
                        <a:t>US-01</a:t>
                      </a:r>
                      <a:endParaRPr lang="en-US" sz="11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Đăng ký / Đăng nhập an toàn</a:t>
                      </a:r>
                      <a:endParaRPr lang="en-US" sz="11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Must</a:t>
                      </a:r>
                      <a:endParaRPr lang="en-US" sz="11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3</a:t>
                      </a:r>
                      <a:endParaRPr lang="en-US" sz="11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r>
              <a:tr h="0">
                <a:tc>
                  <a:txBody>
                    <a:bodyPr/>
                    <a:lstStyle/>
                    <a:p>
                      <a:pPr indent="0" marL="0">
                        <a:buNone/>
                      </a:pPr>
                      <a:r>
                        <a:rPr lang="en-US" sz="1100" dirty="0">
                          <a:solidFill>
                            <a:srgbClr val="000000"/>
                          </a:solidFill>
                          <a:latin typeface="Arial" pitchFamily="34" charset="0"/>
                          <a:ea typeface="Arial" pitchFamily="34" charset="-122"/>
                          <a:cs typeface="Arial" pitchFamily="34" charset="-120"/>
                        </a:rPr>
                        <a:t>US-02</a:t>
                      </a:r>
                      <a:endParaRPr lang="en-US" sz="11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Giao diện chat thân thiện mobile</a:t>
                      </a:r>
                      <a:endParaRPr lang="en-US" sz="11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Must</a:t>
                      </a:r>
                      <a:endParaRPr lang="en-US" sz="11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5</a:t>
                      </a:r>
                      <a:endParaRPr lang="en-US" sz="11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r>
              <a:tr h="0">
                <a:tc>
                  <a:txBody>
                    <a:bodyPr/>
                    <a:lstStyle/>
                    <a:p>
                      <a:pPr indent="0" marL="0">
                        <a:buNone/>
                      </a:pPr>
                      <a:r>
                        <a:rPr lang="en-US" sz="1100" dirty="0">
                          <a:solidFill>
                            <a:srgbClr val="000000"/>
                          </a:solidFill>
                          <a:latin typeface="Arial" pitchFamily="34" charset="0"/>
                          <a:ea typeface="Arial" pitchFamily="34" charset="-122"/>
                          <a:cs typeface="Arial" pitchFamily="34" charset="-120"/>
                        </a:rPr>
                        <a:t>US-03</a:t>
                      </a:r>
                      <a:endParaRPr lang="en-US" sz="11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Tư vấn triệu chứng qua AI Gemini</a:t>
                      </a:r>
                      <a:endParaRPr lang="en-US" sz="11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Must</a:t>
                      </a:r>
                      <a:endParaRPr lang="en-US" sz="11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8</a:t>
                      </a:r>
                      <a:endParaRPr lang="en-US" sz="11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r>
              <a:tr h="0">
                <a:tc>
                  <a:txBody>
                    <a:bodyPr/>
                    <a:lstStyle/>
                    <a:p>
                      <a:pPr indent="0" marL="0">
                        <a:buNone/>
                      </a:pPr>
                      <a:r>
                        <a:rPr lang="en-US" sz="1100" dirty="0">
                          <a:solidFill>
                            <a:srgbClr val="000000"/>
                          </a:solidFill>
                          <a:latin typeface="Arial" pitchFamily="34" charset="0"/>
                          <a:ea typeface="Arial" pitchFamily="34" charset="-122"/>
                          <a:cs typeface="Arial" pitchFamily="34" charset="-120"/>
                        </a:rPr>
                        <a:t>US-04</a:t>
                      </a:r>
                      <a:endParaRPr lang="en-US" sz="11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Lưu lịch sử hội thoại</a:t>
                      </a:r>
                      <a:endParaRPr lang="en-US" sz="11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Must</a:t>
                      </a:r>
                      <a:endParaRPr lang="en-US" sz="11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5</a:t>
                      </a:r>
                      <a:endParaRPr lang="en-US" sz="11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r>
              <a:tr h="0">
                <a:tc>
                  <a:txBody>
                    <a:bodyPr/>
                    <a:lstStyle/>
                    <a:p>
                      <a:pPr indent="0" marL="0">
                        <a:buNone/>
                      </a:pPr>
                      <a:r>
                        <a:rPr lang="en-US" sz="1100" dirty="0">
                          <a:solidFill>
                            <a:srgbClr val="000000"/>
                          </a:solidFill>
                          <a:latin typeface="Arial" pitchFamily="34" charset="0"/>
                          <a:ea typeface="Arial" pitchFamily="34" charset="-122"/>
                          <a:cs typeface="Arial" pitchFamily="34" charset="-120"/>
                        </a:rPr>
                        <a:t>US-05</a:t>
                      </a:r>
                      <a:endParaRPr lang="en-US" sz="11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Gửi hình ảnh y khoa</a:t>
                      </a:r>
                      <a:endParaRPr lang="en-US" sz="11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Should</a:t>
                      </a:r>
                      <a:endParaRPr lang="en-US" sz="11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5</a:t>
                      </a:r>
                      <a:endParaRPr lang="en-US" sz="11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r>
              <a:tr h="0">
                <a:tc>
                  <a:txBody>
                    <a:bodyPr/>
                    <a:lstStyle/>
                    <a:p>
                      <a:pPr indent="0" marL="0">
                        <a:buNone/>
                      </a:pPr>
                      <a:r>
                        <a:rPr lang="en-US" sz="1100" dirty="0">
                          <a:solidFill>
                            <a:srgbClr val="000000"/>
                          </a:solidFill>
                          <a:latin typeface="Arial" pitchFamily="34" charset="0"/>
                          <a:ea typeface="Arial" pitchFamily="34" charset="-122"/>
                          <a:cs typeface="Arial" pitchFamily="34" charset="-120"/>
                        </a:rPr>
                        <a:t>US-06</a:t>
                      </a:r>
                      <a:endParaRPr lang="en-US" sz="11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Đặt lịch khám (chọn BS, phòng khám)</a:t>
                      </a:r>
                      <a:endParaRPr lang="en-US" sz="11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Must</a:t>
                      </a:r>
                      <a:endParaRPr lang="en-US" sz="11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5</a:t>
                      </a:r>
                      <a:endParaRPr lang="en-US" sz="11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r>
              <a:tr h="0">
                <a:tc>
                  <a:txBody>
                    <a:bodyPr/>
                    <a:lstStyle/>
                    <a:p>
                      <a:pPr indent="0" marL="0">
                        <a:buNone/>
                      </a:pPr>
                      <a:r>
                        <a:rPr lang="en-US" sz="1100" dirty="0">
                          <a:solidFill>
                            <a:srgbClr val="000000"/>
                          </a:solidFill>
                          <a:latin typeface="Arial" pitchFamily="34" charset="0"/>
                          <a:ea typeface="Arial" pitchFamily="34" charset="-122"/>
                          <a:cs typeface="Arial" pitchFamily="34" charset="-120"/>
                        </a:rPr>
                        <a:t>US-07</a:t>
                      </a:r>
                      <a:endParaRPr lang="en-US" sz="11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Danh mục thuốc &amp; nhắc uống thuốc</a:t>
                      </a:r>
                      <a:endParaRPr lang="en-US" sz="11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Should</a:t>
                      </a:r>
                      <a:endParaRPr lang="en-US" sz="11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3</a:t>
                      </a:r>
                      <a:endParaRPr lang="en-US" sz="11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r>
              <a:tr h="0">
                <a:tc>
                  <a:txBody>
                    <a:bodyPr/>
                    <a:lstStyle/>
                    <a:p>
                      <a:pPr indent="0" marL="0">
                        <a:buNone/>
                      </a:pPr>
                      <a:r>
                        <a:rPr lang="en-US" sz="1100" dirty="0">
                          <a:solidFill>
                            <a:srgbClr val="000000"/>
                          </a:solidFill>
                          <a:latin typeface="Arial" pitchFamily="34" charset="0"/>
                          <a:ea typeface="Arial" pitchFamily="34" charset="-122"/>
                          <a:cs typeface="Arial" pitchFamily="34" charset="-120"/>
                        </a:rPr>
                        <a:t>US-08</a:t>
                      </a:r>
                      <a:endParaRPr lang="en-US" sz="11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Hồ sơ sức khỏe cá nhân hóa</a:t>
                      </a:r>
                      <a:endParaRPr lang="en-US" sz="11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Could</a:t>
                      </a:r>
                      <a:endParaRPr lang="en-US" sz="11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3</a:t>
                      </a:r>
                      <a:endParaRPr lang="en-US" sz="11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8B0000"/>
          </a:solidFill>
          <a:ln/>
        </p:spPr>
      </p:sp>
      <p:sp>
        <p:nvSpPr>
          <p:cNvPr id="3" name="Text 1"/>
          <p:cNvSpPr/>
          <p:nvPr/>
        </p:nvSpPr>
        <p:spPr>
          <a:xfrm>
            <a:off x="457200" y="137160"/>
            <a:ext cx="8229600" cy="548640"/>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Chương 5: Product Roadmap (3 Releases)</a:t>
            </a:r>
            <a:endParaRPr lang="en-US" sz="2200" dirty="0"/>
          </a:p>
        </p:txBody>
      </p:sp>
      <p:sp>
        <p:nvSpPr>
          <p:cNvPr id="4" name="Shape 2"/>
          <p:cNvSpPr/>
          <p:nvPr/>
        </p:nvSpPr>
        <p:spPr>
          <a:xfrm>
            <a:off x="0" y="6492240"/>
            <a:ext cx="9144000" cy="365760"/>
          </a:xfrm>
          <a:prstGeom prst="rect">
            <a:avLst/>
          </a:prstGeom>
          <a:solidFill>
            <a:srgbClr val="8B0000"/>
          </a:solidFill>
          <a:ln/>
        </p:spPr>
      </p:sp>
      <p:sp>
        <p:nvSpPr>
          <p:cNvPr id="5" name="Text 3"/>
          <p:cNvSpPr/>
          <p:nvPr/>
        </p:nvSpPr>
        <p:spPr>
          <a:xfrm>
            <a:off x="274320" y="6492240"/>
            <a:ext cx="8229600" cy="365760"/>
          </a:xfrm>
          <a:prstGeom prst="rect">
            <a:avLst/>
          </a:prstGeom>
          <a:noFill/>
          <a:ln/>
        </p:spPr>
        <p:txBody>
          <a:bodyPr wrap="square" rtlCol="0" anchor="ctr"/>
          <a:lstStyle/>
          <a:p>
            <a:pPr indent="0" marL="0">
              <a:buNone/>
            </a:pPr>
            <a:r>
              <a:rPr lang="en-US" sz="900" dirty="0">
                <a:solidFill>
                  <a:srgbClr val="FFFFFF"/>
                </a:solidFill>
                <a:latin typeface="Arial" pitchFamily="34" charset="0"/>
                <a:ea typeface="Arial" pitchFamily="34" charset="-122"/>
                <a:cs typeface="Arial" pitchFamily="34" charset="-120"/>
              </a:rPr>
              <a:t>Đại học Bách khoa Hà Nội | Nhóm 10</a:t>
            </a:r>
            <a:endParaRPr lang="en-US" sz="900" dirty="0"/>
          </a:p>
        </p:txBody>
      </p:sp>
      <p:sp>
        <p:nvSpPr>
          <p:cNvPr id="6" name="Text 4"/>
          <p:cNvSpPr/>
          <p:nvPr/>
        </p:nvSpPr>
        <p:spPr>
          <a:xfrm>
            <a:off x="548640" y="1097280"/>
            <a:ext cx="8046720" cy="5029200"/>
          </a:xfrm>
          <a:prstGeom prst="rect">
            <a:avLst/>
          </a:prstGeom>
          <a:noFill/>
          <a:ln/>
        </p:spPr>
        <p:txBody>
          <a:bodyPr wrap="square" rtlCol="0" anchor="t"/>
          <a:lstStyle/>
          <a:p>
            <a:pPr marL="342900" indent="-342900">
              <a:spcAft>
                <a:spcPts val="600"/>
              </a:spcAft>
              <a:buSzPct val="100000"/>
              <a:buChar char="•"/>
            </a:pPr>
            <a:r>
              <a:rPr lang="en-US" sz="1400" dirty="0">
                <a:solidFill>
                  <a:srgbClr val="1A1A1A"/>
                </a:solidFill>
                <a:latin typeface="Arial" pitchFamily="34" charset="0"/>
                <a:ea typeface="Arial" pitchFamily="34" charset="-122"/>
                <a:cs typeface="Arial" pitchFamily="34" charset="-120"/>
              </a:rPr>
              <a:t>Release 1 (Sprint 1 - Tuần 1): Foundation</a:t>
            </a:r>
            <a:endParaRPr lang="en-US" sz="1400" dirty="0"/>
          </a:p>
          <a:p>
            <a:pPr marL="342900" indent="-342900">
              <a:spcAft>
                <a:spcPts val="600"/>
              </a:spcAft>
              <a:buSzPct val="100000"/>
              <a:buChar char="•"/>
            </a:pPr>
            <a:r>
              <a:rPr lang="en-US" sz="1400" dirty="0">
                <a:solidFill>
                  <a:srgbClr val="1A1A1A"/>
                </a:solidFill>
                <a:latin typeface="Arial" pitchFamily="34" charset="0"/>
                <a:ea typeface="Arial" pitchFamily="34" charset="-122"/>
                <a:cs typeface="Arial" pitchFamily="34" charset="-120"/>
              </a:rPr>
              <a:t>  → US-01: Auth JWT, US-02: UI Chat cơ bản</a:t>
            </a:r>
            <a:endParaRPr lang="en-US" sz="1400" dirty="0"/>
          </a:p>
          <a:p>
            <a:pPr marL="342900" indent="-342900">
              <a:spcAft>
                <a:spcPts val="600"/>
              </a:spcAft>
              <a:buSzPct val="100000"/>
              <a:buChar char="•"/>
            </a:pPr>
            <a:endParaRPr lang="en-US" sz="1400" dirty="0"/>
          </a:p>
          <a:p>
            <a:pPr marL="342900" indent="-342900">
              <a:spcAft>
                <a:spcPts val="600"/>
              </a:spcAft>
              <a:buSzPct val="100000"/>
              <a:buChar char="•"/>
            </a:pPr>
            <a:r>
              <a:rPr lang="en-US" sz="1400" dirty="0">
                <a:solidFill>
                  <a:srgbClr val="1A1A1A"/>
                </a:solidFill>
                <a:latin typeface="Arial" pitchFamily="34" charset="0"/>
                <a:ea typeface="Arial" pitchFamily="34" charset="-122"/>
                <a:cs typeface="Arial" pitchFamily="34" charset="-120"/>
              </a:rPr>
              <a:t>Release 2 (Sprint 2 - Tuần 2): Core AI</a:t>
            </a:r>
            <a:endParaRPr lang="en-US" sz="1400" dirty="0"/>
          </a:p>
          <a:p>
            <a:pPr marL="342900" indent="-342900">
              <a:spcAft>
                <a:spcPts val="600"/>
              </a:spcAft>
              <a:buSzPct val="100000"/>
              <a:buChar char="•"/>
            </a:pPr>
            <a:r>
              <a:rPr lang="en-US" sz="1400" dirty="0">
                <a:solidFill>
                  <a:srgbClr val="1A1A1A"/>
                </a:solidFill>
                <a:latin typeface="Arial" pitchFamily="34" charset="0"/>
                <a:ea typeface="Arial" pitchFamily="34" charset="-122"/>
                <a:cs typeface="Arial" pitchFamily="34" charset="-120"/>
              </a:rPr>
              <a:t>  → US-03: Tích hợp Gemini, US-04: Lưu lịch sử</a:t>
            </a:r>
            <a:endParaRPr lang="en-US" sz="1400" dirty="0"/>
          </a:p>
          <a:p>
            <a:pPr marL="342900" indent="-342900">
              <a:spcAft>
                <a:spcPts val="600"/>
              </a:spcAft>
              <a:buSzPct val="100000"/>
              <a:buChar char="•"/>
            </a:pPr>
            <a:r>
              <a:rPr lang="en-US" sz="1400" dirty="0">
                <a:solidFill>
                  <a:srgbClr val="1A1A1A"/>
                </a:solidFill>
                <a:latin typeface="Arial" pitchFamily="34" charset="0"/>
                <a:ea typeface="Arial" pitchFamily="34" charset="-122"/>
                <a:cs typeface="Arial" pitchFamily="34" charset="-120"/>
              </a:rPr>
              <a:t>  → US-05: Phân tích hình ảnh, US-06: Đặt lịch</a:t>
            </a:r>
            <a:endParaRPr lang="en-US" sz="1400" dirty="0"/>
          </a:p>
          <a:p>
            <a:pPr marL="342900" indent="-342900">
              <a:spcAft>
                <a:spcPts val="600"/>
              </a:spcAft>
              <a:buSzPct val="100000"/>
              <a:buChar char="•"/>
            </a:pPr>
            <a:endParaRPr lang="en-US" sz="1400" dirty="0"/>
          </a:p>
          <a:p>
            <a:pPr marL="342900" indent="-342900">
              <a:spcAft>
                <a:spcPts val="600"/>
              </a:spcAft>
              <a:buSzPct val="100000"/>
              <a:buChar char="•"/>
            </a:pPr>
            <a:r>
              <a:rPr lang="en-US" sz="1400" dirty="0">
                <a:solidFill>
                  <a:srgbClr val="1A1A1A"/>
                </a:solidFill>
                <a:latin typeface="Arial" pitchFamily="34" charset="0"/>
                <a:ea typeface="Arial" pitchFamily="34" charset="-122"/>
                <a:cs typeface="Arial" pitchFamily="34" charset="-120"/>
              </a:rPr>
              <a:t>Release 3 (Sprint 3 - Tuần 3): Polish &amp; Extend</a:t>
            </a:r>
            <a:endParaRPr lang="en-US" sz="1400" dirty="0"/>
          </a:p>
          <a:p>
            <a:pPr marL="342900" indent="-342900">
              <a:spcAft>
                <a:spcPts val="600"/>
              </a:spcAft>
              <a:buSzPct val="100000"/>
              <a:buChar char="•"/>
            </a:pPr>
            <a:r>
              <a:rPr lang="en-US" sz="1400" dirty="0">
                <a:solidFill>
                  <a:srgbClr val="1A1A1A"/>
                </a:solidFill>
                <a:latin typeface="Arial" pitchFamily="34" charset="0"/>
                <a:ea typeface="Arial" pitchFamily="34" charset="-122"/>
                <a:cs typeface="Arial" pitchFamily="34" charset="-120"/>
              </a:rPr>
              <a:t>  → US-07: Thuốc &amp; nhắc nhở, US-08: Hồ sơ AI</a:t>
            </a:r>
            <a:endParaRPr lang="en-US" sz="1400" dirty="0"/>
          </a:p>
          <a:p>
            <a:pPr marL="342900" indent="-342900">
              <a:spcAft>
                <a:spcPts val="600"/>
              </a:spcAft>
              <a:buSzPct val="100000"/>
              <a:buChar char="•"/>
            </a:pPr>
            <a:r>
              <a:rPr lang="en-US" sz="1400" dirty="0">
                <a:solidFill>
                  <a:srgbClr val="1A1A1A"/>
                </a:solidFill>
                <a:latin typeface="Arial" pitchFamily="34" charset="0"/>
                <a:ea typeface="Arial" pitchFamily="34" charset="-122"/>
                <a:cs typeface="Arial" pitchFamily="34" charset="-120"/>
              </a:rPr>
              <a:t>  → Multi API Key fallback, E2E Testing</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8B0000"/>
          </a:solidFill>
          <a:ln/>
        </p:spPr>
      </p:sp>
      <p:sp>
        <p:nvSpPr>
          <p:cNvPr id="3" name="Text 1"/>
          <p:cNvSpPr/>
          <p:nvPr/>
        </p:nvSpPr>
        <p:spPr>
          <a:xfrm>
            <a:off x="457200" y="137160"/>
            <a:ext cx="8229600" cy="548640"/>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Chương 5: Kiến trúc hệ thống</a:t>
            </a:r>
            <a:endParaRPr lang="en-US" sz="2200" dirty="0"/>
          </a:p>
        </p:txBody>
      </p:sp>
      <p:sp>
        <p:nvSpPr>
          <p:cNvPr id="4" name="Shape 2"/>
          <p:cNvSpPr/>
          <p:nvPr/>
        </p:nvSpPr>
        <p:spPr>
          <a:xfrm>
            <a:off x="0" y="6492240"/>
            <a:ext cx="9144000" cy="365760"/>
          </a:xfrm>
          <a:prstGeom prst="rect">
            <a:avLst/>
          </a:prstGeom>
          <a:solidFill>
            <a:srgbClr val="8B0000"/>
          </a:solidFill>
          <a:ln/>
        </p:spPr>
      </p:sp>
      <p:sp>
        <p:nvSpPr>
          <p:cNvPr id="5" name="Text 3"/>
          <p:cNvSpPr/>
          <p:nvPr/>
        </p:nvSpPr>
        <p:spPr>
          <a:xfrm>
            <a:off x="274320" y="6492240"/>
            <a:ext cx="8229600" cy="365760"/>
          </a:xfrm>
          <a:prstGeom prst="rect">
            <a:avLst/>
          </a:prstGeom>
          <a:noFill/>
          <a:ln/>
        </p:spPr>
        <p:txBody>
          <a:bodyPr wrap="square" rtlCol="0" anchor="ctr"/>
          <a:lstStyle/>
          <a:p>
            <a:pPr indent="0" marL="0">
              <a:buNone/>
            </a:pPr>
            <a:r>
              <a:rPr lang="en-US" sz="900" dirty="0">
                <a:solidFill>
                  <a:srgbClr val="FFFFFF"/>
                </a:solidFill>
                <a:latin typeface="Arial" pitchFamily="34" charset="0"/>
                <a:ea typeface="Arial" pitchFamily="34" charset="-122"/>
                <a:cs typeface="Arial" pitchFamily="34" charset="-120"/>
              </a:rPr>
              <a:t>Đại học Bách khoa Hà Nội | Nhóm 10</a:t>
            </a:r>
            <a:endParaRPr lang="en-US" sz="900" dirty="0"/>
          </a:p>
        </p:txBody>
      </p:sp>
      <p:sp>
        <p:nvSpPr>
          <p:cNvPr id="6" name="Text 4"/>
          <p:cNvSpPr/>
          <p:nvPr/>
        </p:nvSpPr>
        <p:spPr>
          <a:xfrm>
            <a:off x="548640" y="1097280"/>
            <a:ext cx="8046720" cy="5029200"/>
          </a:xfrm>
          <a:prstGeom prst="rect">
            <a:avLst/>
          </a:prstGeom>
          <a:noFill/>
          <a:ln/>
        </p:spPr>
        <p:txBody>
          <a:bodyPr wrap="square" rtlCol="0" anchor="t"/>
          <a:lstStyle/>
          <a:p>
            <a:pPr marL="342900" indent="-342900">
              <a:spcAft>
                <a:spcPts val="600"/>
              </a:spcAft>
              <a:buSzPct val="100000"/>
              <a:buChar char="•"/>
            </a:pPr>
            <a:r>
              <a:rPr lang="en-US" sz="1400" dirty="0">
                <a:solidFill>
                  <a:srgbClr val="1A1A1A"/>
                </a:solidFill>
                <a:latin typeface="Arial" pitchFamily="34" charset="0"/>
                <a:ea typeface="Arial" pitchFamily="34" charset="-122"/>
                <a:cs typeface="Arial" pitchFamily="34" charset="-120"/>
              </a:rPr>
              <a:t>Client (React SPA) ←→ API Server (Express.js) ←→ SQLite DB</a:t>
            </a:r>
            <a:endParaRPr lang="en-US" sz="1400" dirty="0"/>
          </a:p>
          <a:p>
            <a:pPr marL="342900" indent="-342900">
              <a:spcAft>
                <a:spcPts val="600"/>
              </a:spcAft>
              <a:buSzPct val="100000"/>
              <a:buChar char="•"/>
            </a:pPr>
            <a:r>
              <a:rPr lang="en-US" sz="1400" dirty="0">
                <a:solidFill>
                  <a:srgbClr val="1A1A1A"/>
                </a:solidFill>
                <a:latin typeface="Arial" pitchFamily="34" charset="0"/>
                <a:ea typeface="Arial" pitchFamily="34" charset="-122"/>
                <a:cs typeface="Arial" pitchFamily="34" charset="-120"/>
              </a:rPr>
              <a:t>                                    ↕</a:t>
            </a:r>
            <a:endParaRPr lang="en-US" sz="1400" dirty="0"/>
          </a:p>
          <a:p>
            <a:pPr marL="342900" indent="-342900">
              <a:spcAft>
                <a:spcPts val="600"/>
              </a:spcAft>
              <a:buSzPct val="100000"/>
              <a:buChar char="•"/>
            </a:pPr>
            <a:r>
              <a:rPr lang="en-US" sz="1400" dirty="0">
                <a:solidFill>
                  <a:srgbClr val="1A1A1A"/>
                </a:solidFill>
                <a:latin typeface="Arial" pitchFamily="34" charset="0"/>
                <a:ea typeface="Arial" pitchFamily="34" charset="-122"/>
                <a:cs typeface="Arial" pitchFamily="34" charset="-120"/>
              </a:rPr>
              <a:t>                        Google Gemini 2.5 Flash API</a:t>
            </a:r>
            <a:endParaRPr lang="en-US" sz="1400" dirty="0"/>
          </a:p>
          <a:p>
            <a:pPr marL="342900" indent="-342900">
              <a:spcAft>
                <a:spcPts val="600"/>
              </a:spcAft>
              <a:buSzPct val="100000"/>
              <a:buChar char="•"/>
            </a:pPr>
            <a:endParaRPr lang="en-US" sz="1400" dirty="0"/>
          </a:p>
          <a:p>
            <a:pPr marL="342900" indent="-342900">
              <a:spcAft>
                <a:spcPts val="600"/>
              </a:spcAft>
              <a:buSzPct val="100000"/>
              <a:buChar char="•"/>
            </a:pPr>
            <a:r>
              <a:rPr lang="en-US" sz="1400" dirty="0">
                <a:solidFill>
                  <a:srgbClr val="1A1A1A"/>
                </a:solidFill>
                <a:latin typeface="Arial" pitchFamily="34" charset="0"/>
                <a:ea typeface="Arial" pitchFamily="34" charset="-122"/>
                <a:cs typeface="Arial" pitchFamily="34" charset="-120"/>
              </a:rPr>
              <a:t>Điểm nổi bật kiến trúc:</a:t>
            </a:r>
            <a:endParaRPr lang="en-US" sz="1400" dirty="0"/>
          </a:p>
          <a:p>
            <a:pPr marL="342900" indent="-342900">
              <a:spcAft>
                <a:spcPts val="600"/>
              </a:spcAft>
              <a:buSzPct val="100000"/>
              <a:buChar char="•"/>
            </a:pPr>
            <a:r>
              <a:rPr lang="en-US" sz="1400" dirty="0">
                <a:solidFill>
                  <a:srgbClr val="1A1A1A"/>
                </a:solidFill>
                <a:latin typeface="Arial" pitchFamily="34" charset="0"/>
                <a:ea typeface="Arial" pitchFamily="34" charset="-122"/>
                <a:cs typeface="Arial" pitchFamily="34" charset="-120"/>
              </a:rPr>
              <a:t>  • Multi API Key với Auto-Switching khi quota hết</a:t>
            </a:r>
            <a:endParaRPr lang="en-US" sz="1400" dirty="0"/>
          </a:p>
          <a:p>
            <a:pPr marL="342900" indent="-342900">
              <a:spcAft>
                <a:spcPts val="600"/>
              </a:spcAft>
              <a:buSzPct val="100000"/>
              <a:buChar char="•"/>
            </a:pPr>
            <a:r>
              <a:rPr lang="en-US" sz="1400" dirty="0">
                <a:solidFill>
                  <a:srgbClr val="1A1A1A"/>
                </a:solidFill>
                <a:latin typeface="Arial" pitchFamily="34" charset="0"/>
                <a:ea typeface="Arial" pitchFamily="34" charset="-122"/>
                <a:cs typeface="Arial" pitchFamily="34" charset="-120"/>
              </a:rPr>
              <a:t>  • JWT Authentication stateless, bảo mật cao</a:t>
            </a:r>
            <a:endParaRPr lang="en-US" sz="1400" dirty="0"/>
          </a:p>
          <a:p>
            <a:pPr marL="342900" indent="-342900">
              <a:spcAft>
                <a:spcPts val="600"/>
              </a:spcAft>
              <a:buSzPct val="100000"/>
              <a:buChar char="•"/>
            </a:pPr>
            <a:r>
              <a:rPr lang="en-US" sz="1400" dirty="0">
                <a:solidFill>
                  <a:srgbClr val="1A1A1A"/>
                </a:solidFill>
                <a:latin typeface="Arial" pitchFamily="34" charset="0"/>
                <a:ea typeface="Arial" pitchFamily="34" charset="-122"/>
                <a:cs typeface="Arial" pitchFamily="34" charset="-120"/>
              </a:rPr>
              <a:t>  • Drizzle ORM type-safe, migration dễ dàng</a:t>
            </a:r>
            <a:endParaRPr lang="en-US" sz="1400" dirty="0"/>
          </a:p>
          <a:p>
            <a:pPr marL="342900" indent="-342900">
              <a:spcAft>
                <a:spcPts val="600"/>
              </a:spcAft>
              <a:buSzPct val="100000"/>
              <a:buChar char="•"/>
            </a:pPr>
            <a:r>
              <a:rPr lang="en-US" sz="1400" dirty="0">
                <a:solidFill>
                  <a:srgbClr val="1A1A1A"/>
                </a:solidFill>
                <a:latin typeface="Arial" pitchFamily="34" charset="0"/>
                <a:ea typeface="Arial" pitchFamily="34" charset="-122"/>
                <a:cs typeface="Arial" pitchFamily="34" charset="-120"/>
              </a:rPr>
              <a:t>  • Docker Compose: 1 lệnh = chạy toàn bộ hệ thống</a:t>
            </a:r>
            <a:endParaRPr lang="en-US" sz="1400" dirty="0"/>
          </a:p>
          <a:p>
            <a:pPr marL="342900" indent="-342900">
              <a:spcAft>
                <a:spcPts val="600"/>
              </a:spcAft>
              <a:buSzPct val="100000"/>
              <a:buChar char="•"/>
            </a:pPr>
            <a:r>
              <a:rPr lang="en-US" sz="1400" dirty="0">
                <a:solidFill>
                  <a:srgbClr val="1A1A1A"/>
                </a:solidFill>
                <a:latin typeface="Arial" pitchFamily="34" charset="0"/>
                <a:ea typeface="Arial" pitchFamily="34" charset="-122"/>
                <a:cs typeface="Arial" pitchFamily="34" charset="-120"/>
              </a:rPr>
              <a:t>  • Responsive Mobile-First (390x844 viewport)</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8B0000"/>
          </a:solidFill>
          <a:ln/>
        </p:spPr>
      </p:sp>
      <p:sp>
        <p:nvSpPr>
          <p:cNvPr id="3" name="Text 1"/>
          <p:cNvSpPr/>
          <p:nvPr/>
        </p:nvSpPr>
        <p:spPr>
          <a:xfrm>
            <a:off x="457200" y="137160"/>
            <a:ext cx="8229600" cy="548640"/>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Chương 4: Usability Testing Report</a:t>
            </a:r>
            <a:endParaRPr lang="en-US" sz="2200" dirty="0"/>
          </a:p>
        </p:txBody>
      </p:sp>
      <p:sp>
        <p:nvSpPr>
          <p:cNvPr id="4" name="Shape 2"/>
          <p:cNvSpPr/>
          <p:nvPr/>
        </p:nvSpPr>
        <p:spPr>
          <a:xfrm>
            <a:off x="0" y="6492240"/>
            <a:ext cx="9144000" cy="365760"/>
          </a:xfrm>
          <a:prstGeom prst="rect">
            <a:avLst/>
          </a:prstGeom>
          <a:solidFill>
            <a:srgbClr val="8B0000"/>
          </a:solidFill>
          <a:ln/>
        </p:spPr>
      </p:sp>
      <p:sp>
        <p:nvSpPr>
          <p:cNvPr id="5" name="Text 3"/>
          <p:cNvSpPr/>
          <p:nvPr/>
        </p:nvSpPr>
        <p:spPr>
          <a:xfrm>
            <a:off x="274320" y="6492240"/>
            <a:ext cx="8229600" cy="365760"/>
          </a:xfrm>
          <a:prstGeom prst="rect">
            <a:avLst/>
          </a:prstGeom>
          <a:noFill/>
          <a:ln/>
        </p:spPr>
        <p:txBody>
          <a:bodyPr wrap="square" rtlCol="0" anchor="ctr"/>
          <a:lstStyle/>
          <a:p>
            <a:pPr indent="0" marL="0">
              <a:buNone/>
            </a:pPr>
            <a:r>
              <a:rPr lang="en-US" sz="900" dirty="0">
                <a:solidFill>
                  <a:srgbClr val="FFFFFF"/>
                </a:solidFill>
                <a:latin typeface="Arial" pitchFamily="34" charset="0"/>
                <a:ea typeface="Arial" pitchFamily="34" charset="-122"/>
                <a:cs typeface="Arial" pitchFamily="34" charset="-120"/>
              </a:rPr>
              <a:t>Đại học Bách khoa Hà Nội | Nhóm 10</a:t>
            </a:r>
            <a:endParaRPr lang="en-US" sz="900" dirty="0"/>
          </a:p>
        </p:txBody>
      </p:sp>
      <p:sp>
        <p:nvSpPr>
          <p:cNvPr id="6" name="Text 4"/>
          <p:cNvSpPr/>
          <p:nvPr/>
        </p:nvSpPr>
        <p:spPr>
          <a:xfrm>
            <a:off x="548640" y="1097280"/>
            <a:ext cx="8046720" cy="5029200"/>
          </a:xfrm>
          <a:prstGeom prst="rect">
            <a:avLst/>
          </a:prstGeom>
          <a:noFill/>
          <a:ln/>
        </p:spPr>
        <p:txBody>
          <a:bodyPr wrap="square" rtlCol="0" anchor="t"/>
          <a:lstStyle/>
          <a:p>
            <a:pPr marL="342900" indent="-342900">
              <a:spcAft>
                <a:spcPts val="600"/>
              </a:spcAft>
              <a:buSzPct val="100000"/>
              <a:buChar char="•"/>
            </a:pPr>
            <a:r>
              <a:rPr lang="en-US" sz="1400" dirty="0">
                <a:solidFill>
                  <a:srgbClr val="1A1A1A"/>
                </a:solidFill>
                <a:latin typeface="Arial" pitchFamily="34" charset="0"/>
                <a:ea typeface="Arial" pitchFamily="34" charset="-122"/>
                <a:cs typeface="Arial" pitchFamily="34" charset="-120"/>
              </a:rPr>
              <a:t>Phương pháp: Automated E2E Testing với Puppeteer</a:t>
            </a:r>
            <a:endParaRPr lang="en-US" sz="1400" dirty="0"/>
          </a:p>
          <a:p>
            <a:pPr marL="342900" indent="-342900">
              <a:spcAft>
                <a:spcPts val="600"/>
              </a:spcAft>
              <a:buSzPct val="100000"/>
              <a:buChar char="•"/>
            </a:pPr>
            <a:r>
              <a:rPr lang="en-US" sz="1400" dirty="0">
                <a:solidFill>
                  <a:srgbClr val="1A1A1A"/>
                </a:solidFill>
                <a:latin typeface="Arial" pitchFamily="34" charset="0"/>
                <a:ea typeface="Arial" pitchFamily="34" charset="-122"/>
                <a:cs typeface="Arial" pitchFamily="34" charset="-120"/>
              </a:rPr>
              <a:t>Thiết bị giả lập: iPhone 14 Pro Max (390x844, 2x)</a:t>
            </a:r>
            <a:endParaRPr lang="en-US" sz="1400" dirty="0"/>
          </a:p>
          <a:p>
            <a:pPr marL="342900" indent="-342900">
              <a:spcAft>
                <a:spcPts val="600"/>
              </a:spcAft>
              <a:buSzPct val="100000"/>
              <a:buChar char="•"/>
            </a:pPr>
            <a:endParaRPr lang="en-US" sz="1400" dirty="0"/>
          </a:p>
          <a:p>
            <a:pPr marL="342900" indent="-342900">
              <a:spcAft>
                <a:spcPts val="600"/>
              </a:spcAft>
              <a:buSzPct val="100000"/>
              <a:buChar char="•"/>
            </a:pPr>
            <a:r>
              <a:rPr lang="en-US" sz="1400" dirty="0">
                <a:solidFill>
                  <a:srgbClr val="1A1A1A"/>
                </a:solidFill>
                <a:latin typeface="Arial" pitchFamily="34" charset="0"/>
                <a:ea typeface="Arial" pitchFamily="34" charset="-122"/>
                <a:cs typeface="Arial" pitchFamily="34" charset="-120"/>
              </a:rPr>
              <a:t>Kịch bản đã test thành công:</a:t>
            </a:r>
            <a:endParaRPr lang="en-US" sz="1400" dirty="0"/>
          </a:p>
          <a:p>
            <a:pPr marL="342900" indent="-342900">
              <a:spcAft>
                <a:spcPts val="600"/>
              </a:spcAft>
              <a:buSzPct val="100000"/>
              <a:buChar char="•"/>
            </a:pPr>
            <a:r>
              <a:rPr lang="en-US" sz="1400" dirty="0">
                <a:solidFill>
                  <a:srgbClr val="1A1A1A"/>
                </a:solidFill>
                <a:latin typeface="Arial" pitchFamily="34" charset="0"/>
                <a:ea typeface="Arial" pitchFamily="34" charset="-122"/>
                <a:cs typeface="Arial" pitchFamily="34" charset="-120"/>
              </a:rPr>
              <a:t>  ✅ Đăng ký tài khoản mới → Đăng nhập</a:t>
            </a:r>
            <a:endParaRPr lang="en-US" sz="1400" dirty="0"/>
          </a:p>
          <a:p>
            <a:pPr marL="342900" indent="-342900">
              <a:spcAft>
                <a:spcPts val="600"/>
              </a:spcAft>
              <a:buSzPct val="100000"/>
              <a:buChar char="•"/>
            </a:pPr>
            <a:r>
              <a:rPr lang="en-US" sz="1400" dirty="0">
                <a:solidFill>
                  <a:srgbClr val="1A1A1A"/>
                </a:solidFill>
                <a:latin typeface="Arial" pitchFamily="34" charset="0"/>
                <a:ea typeface="Arial" pitchFamily="34" charset="-122"/>
                <a:cs typeface="Arial" pitchFamily="34" charset="-120"/>
              </a:rPr>
              <a:t>  ✅ Chat AI: Hỏi triệu chứng (đau đầu, sốt 38.5°C)</a:t>
            </a:r>
            <a:endParaRPr lang="en-US" sz="1400" dirty="0"/>
          </a:p>
          <a:p>
            <a:pPr marL="342900" indent="-342900">
              <a:spcAft>
                <a:spcPts val="600"/>
              </a:spcAft>
              <a:buSzPct val="100000"/>
              <a:buChar char="•"/>
            </a:pPr>
            <a:r>
              <a:rPr lang="en-US" sz="1400" dirty="0">
                <a:solidFill>
                  <a:srgbClr val="1A1A1A"/>
                </a:solidFill>
                <a:latin typeface="Arial" pitchFamily="34" charset="0"/>
                <a:ea typeface="Arial" pitchFamily="34" charset="-122"/>
                <a:cs typeface="Arial" pitchFamily="34" charset="-120"/>
              </a:rPr>
              <a:t>  ✅ Chat AI: Đặt lịch khám (chọn BS Quang Hùng)</a:t>
            </a:r>
            <a:endParaRPr lang="en-US" sz="1400" dirty="0"/>
          </a:p>
          <a:p>
            <a:pPr marL="342900" indent="-342900">
              <a:spcAft>
                <a:spcPts val="600"/>
              </a:spcAft>
              <a:buSzPct val="100000"/>
              <a:buChar char="•"/>
            </a:pPr>
            <a:r>
              <a:rPr lang="en-US" sz="1400" dirty="0">
                <a:solidFill>
                  <a:srgbClr val="1A1A1A"/>
                </a:solidFill>
                <a:latin typeface="Arial" pitchFamily="34" charset="0"/>
                <a:ea typeface="Arial" pitchFamily="34" charset="-122"/>
                <a:cs typeface="Arial" pitchFamily="34" charset="-120"/>
              </a:rPr>
              <a:t>  ✅ Chat AI: Hỏi liều lượng Paracetamol</a:t>
            </a:r>
            <a:endParaRPr lang="en-US" sz="1400" dirty="0"/>
          </a:p>
          <a:p>
            <a:pPr marL="342900" indent="-342900">
              <a:spcAft>
                <a:spcPts val="600"/>
              </a:spcAft>
              <a:buSzPct val="100000"/>
              <a:buChar char="•"/>
            </a:pPr>
            <a:r>
              <a:rPr lang="en-US" sz="1400" dirty="0">
                <a:solidFill>
                  <a:srgbClr val="1A1A1A"/>
                </a:solidFill>
                <a:latin typeface="Arial" pitchFamily="34" charset="0"/>
                <a:ea typeface="Arial" pitchFamily="34" charset="-122"/>
                <a:cs typeface="Arial" pitchFamily="34" charset="-120"/>
              </a:rPr>
              <a:t>  ✅ Duyệt danh mục thuốc &amp; đặt lịch nhắc nhở</a:t>
            </a:r>
            <a:endParaRPr lang="en-US" sz="1400" dirty="0"/>
          </a:p>
          <a:p>
            <a:pPr marL="342900" indent="-342900">
              <a:spcAft>
                <a:spcPts val="600"/>
              </a:spcAft>
              <a:buSzPct val="100000"/>
              <a:buChar char="•"/>
            </a:pPr>
            <a:r>
              <a:rPr lang="en-US" sz="1400" dirty="0">
                <a:solidFill>
                  <a:srgbClr val="1A1A1A"/>
                </a:solidFill>
                <a:latin typeface="Arial" pitchFamily="34" charset="0"/>
                <a:ea typeface="Arial" pitchFamily="34" charset="-122"/>
                <a:cs typeface="Arial" pitchFamily="34" charset="-120"/>
              </a:rPr>
              <a:t>  ✅ Xem hồ sơ sức khỏe cá nhân hóa bằng AI</a:t>
            </a:r>
            <a:endParaRPr lang="en-US" sz="1400" dirty="0"/>
          </a:p>
          <a:p>
            <a:pPr marL="342900" indent="-342900">
              <a:spcAft>
                <a:spcPts val="600"/>
              </a:spcAft>
              <a:buSzPct val="100000"/>
              <a:buChar char="•"/>
            </a:pPr>
            <a:endParaRPr lang="en-US" sz="1400" dirty="0"/>
          </a:p>
          <a:p>
            <a:pPr marL="342900" indent="-342900">
              <a:spcAft>
                <a:spcPts val="600"/>
              </a:spcAft>
              <a:buSzPct val="100000"/>
              <a:buChar char="•"/>
            </a:pPr>
            <a:r>
              <a:rPr lang="en-US" sz="1400" dirty="0">
                <a:solidFill>
                  <a:srgbClr val="1A1A1A"/>
                </a:solidFill>
                <a:latin typeface="Arial" pitchFamily="34" charset="0"/>
                <a:ea typeface="Arial" pitchFamily="34" charset="-122"/>
                <a:cs typeface="Arial" pitchFamily="34" charset="-120"/>
              </a:rPr>
              <a:t>→ 100% User Stories đạt Acceptance Criteria</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8B0000"/>
          </a:solidFill>
          <a:ln/>
        </p:spPr>
      </p:sp>
      <p:sp>
        <p:nvSpPr>
          <p:cNvPr id="3" name="Text 1"/>
          <p:cNvSpPr/>
          <p:nvPr/>
        </p:nvSpPr>
        <p:spPr>
          <a:xfrm>
            <a:off x="457200" y="137160"/>
            <a:ext cx="8229600" cy="548640"/>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Chương 6: Kanban Board &amp; WIP Limits</a:t>
            </a:r>
            <a:endParaRPr lang="en-US" sz="2200" dirty="0"/>
          </a:p>
        </p:txBody>
      </p:sp>
      <p:sp>
        <p:nvSpPr>
          <p:cNvPr id="4" name="Shape 2"/>
          <p:cNvSpPr/>
          <p:nvPr/>
        </p:nvSpPr>
        <p:spPr>
          <a:xfrm>
            <a:off x="0" y="6492240"/>
            <a:ext cx="9144000" cy="365760"/>
          </a:xfrm>
          <a:prstGeom prst="rect">
            <a:avLst/>
          </a:prstGeom>
          <a:solidFill>
            <a:srgbClr val="8B0000"/>
          </a:solidFill>
          <a:ln/>
        </p:spPr>
      </p:sp>
      <p:sp>
        <p:nvSpPr>
          <p:cNvPr id="5" name="Text 3"/>
          <p:cNvSpPr/>
          <p:nvPr/>
        </p:nvSpPr>
        <p:spPr>
          <a:xfrm>
            <a:off x="274320" y="6492240"/>
            <a:ext cx="8229600" cy="365760"/>
          </a:xfrm>
          <a:prstGeom prst="rect">
            <a:avLst/>
          </a:prstGeom>
          <a:noFill/>
          <a:ln/>
        </p:spPr>
        <p:txBody>
          <a:bodyPr wrap="square" rtlCol="0" anchor="ctr"/>
          <a:lstStyle/>
          <a:p>
            <a:pPr indent="0" marL="0">
              <a:buNone/>
            </a:pPr>
            <a:r>
              <a:rPr lang="en-US" sz="900" dirty="0">
                <a:solidFill>
                  <a:srgbClr val="FFFFFF"/>
                </a:solidFill>
                <a:latin typeface="Arial" pitchFamily="34" charset="0"/>
                <a:ea typeface="Arial" pitchFamily="34" charset="-122"/>
                <a:cs typeface="Arial" pitchFamily="34" charset="-120"/>
              </a:rPr>
              <a:t>Đại học Bách khoa Hà Nội | Nhóm 10</a:t>
            </a:r>
            <a:endParaRPr lang="en-US" sz="9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274320" y="1188720"/>
          <a:ext cx="8595360" cy="914400"/>
        </p:xfrm>
        <a:graphic>
          <a:graphicData uri="http://schemas.openxmlformats.org/drawingml/2006/table">
            <a:tbl>
              <a:tblPr/>
              <a:tblGrid>
                <a:gridCol w="1828800"/>
                <a:gridCol w="731520"/>
                <a:gridCol w="6035040"/>
              </a:tblGrid>
              <a:tr h="0">
                <a:tc>
                  <a:txBody>
                    <a:bodyPr/>
                    <a:lstStyle/>
                    <a:p>
                      <a:pPr indent="0" marL="0">
                        <a:buNone/>
                      </a:pPr>
                      <a:r>
                        <a:rPr lang="en-US" sz="1100" dirty="0">
                          <a:solidFill>
                            <a:srgbClr val="000000"/>
                          </a:solidFill>
                          <a:latin typeface="Arial" pitchFamily="34" charset="0"/>
                          <a:ea typeface="Arial" pitchFamily="34" charset="-122"/>
                          <a:cs typeface="Arial" pitchFamily="34" charset="-120"/>
                        </a:rPr>
                        <a:t>Trạng thái</a:t>
                      </a:r>
                      <a:endParaRPr lang="en-US" sz="11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WIP</a:t>
                      </a:r>
                      <a:endParaRPr lang="en-US" sz="11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Chính sách</a:t>
                      </a:r>
                      <a:endParaRPr lang="en-US" sz="11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r>
              <a:tr h="0">
                <a:tc>
                  <a:txBody>
                    <a:bodyPr/>
                    <a:lstStyle/>
                    <a:p>
                      <a:pPr indent="0" marL="0">
                        <a:buNone/>
                      </a:pPr>
                      <a:r>
                        <a:rPr lang="en-US" sz="1100" dirty="0">
                          <a:solidFill>
                            <a:srgbClr val="000000"/>
                          </a:solidFill>
                          <a:latin typeface="Arial" pitchFamily="34" charset="0"/>
                          <a:ea typeface="Arial" pitchFamily="34" charset="-122"/>
                          <a:cs typeface="Arial" pitchFamily="34" charset="-120"/>
                        </a:rPr>
                        <a:t>Backlog</a:t>
                      </a:r>
                      <a:endParaRPr lang="en-US" sz="11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US tuân thủ User + Need + Insight</a:t>
                      </a:r>
                      <a:endParaRPr lang="en-US" sz="11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r>
              <a:tr h="0">
                <a:tc>
                  <a:txBody>
                    <a:bodyPr/>
                    <a:lstStyle/>
                    <a:p>
                      <a:pPr indent="0" marL="0">
                        <a:buNone/>
                      </a:pPr>
                      <a:r>
                        <a:rPr lang="en-US" sz="1100" dirty="0">
                          <a:solidFill>
                            <a:srgbClr val="000000"/>
                          </a:solidFill>
                          <a:latin typeface="Arial" pitchFamily="34" charset="0"/>
                          <a:ea typeface="Arial" pitchFamily="34" charset="-122"/>
                          <a:cs typeface="Arial" pitchFamily="34" charset="-120"/>
                        </a:rPr>
                        <a:t>Ready to Dev</a:t>
                      </a:r>
                      <a:endParaRPr lang="en-US" sz="11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3</a:t>
                      </a:r>
                      <a:endParaRPr lang="en-US" sz="11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Phải có AC + xác nhận Tech Lead</a:t>
                      </a:r>
                      <a:endParaRPr lang="en-US" sz="11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r>
              <a:tr h="0">
                <a:tc>
                  <a:txBody>
                    <a:bodyPr/>
                    <a:lstStyle/>
                    <a:p>
                      <a:pPr indent="0" marL="0">
                        <a:buNone/>
                      </a:pPr>
                      <a:r>
                        <a:rPr lang="en-US" sz="1100" dirty="0">
                          <a:solidFill>
                            <a:srgbClr val="000000"/>
                          </a:solidFill>
                          <a:latin typeface="Arial" pitchFamily="34" charset="0"/>
                          <a:ea typeface="Arial" pitchFamily="34" charset="-122"/>
                          <a:cs typeface="Arial" pitchFamily="34" charset="-120"/>
                        </a:rPr>
                        <a:t>In Development</a:t>
                      </a:r>
                      <a:endParaRPr lang="en-US" sz="11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2</a:t>
                      </a:r>
                      <a:endParaRPr lang="en-US" sz="11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Pull System, không nhận task mới khi chưa xong</a:t>
                      </a:r>
                      <a:endParaRPr lang="en-US" sz="11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r>
              <a:tr h="0">
                <a:tc>
                  <a:txBody>
                    <a:bodyPr/>
                    <a:lstStyle/>
                    <a:p>
                      <a:pPr indent="0" marL="0">
                        <a:buNone/>
                      </a:pPr>
                      <a:r>
                        <a:rPr lang="en-US" sz="1100" dirty="0">
                          <a:solidFill>
                            <a:srgbClr val="000000"/>
                          </a:solidFill>
                          <a:latin typeface="Arial" pitchFamily="34" charset="0"/>
                          <a:ea typeface="Arial" pitchFamily="34" charset="-122"/>
                          <a:cs typeface="Arial" pitchFamily="34" charset="-120"/>
                        </a:rPr>
                        <a:t>Testing</a:t>
                      </a:r>
                      <a:endParaRPr lang="en-US" sz="11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1</a:t>
                      </a:r>
                      <a:endParaRPr lang="en-US" sz="11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Kịch bản y tế phải có Disclaimer</a:t>
                      </a:r>
                      <a:endParaRPr lang="en-US" sz="11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r>
              <a:tr h="0">
                <a:tc>
                  <a:txBody>
                    <a:bodyPr/>
                    <a:lstStyle/>
                    <a:p>
                      <a:pPr indent="0" marL="0">
                        <a:buNone/>
                      </a:pPr>
                      <a:r>
                        <a:rPr lang="en-US" sz="1100" dirty="0">
                          <a:solidFill>
                            <a:srgbClr val="000000"/>
                          </a:solidFill>
                          <a:latin typeface="Arial" pitchFamily="34" charset="0"/>
                          <a:ea typeface="Arial" pitchFamily="34" charset="-122"/>
                          <a:cs typeface="Arial" pitchFamily="34" charset="-120"/>
                        </a:rPr>
                        <a:t>Done</a:t>
                      </a:r>
                      <a:endParaRPr lang="en-US" sz="11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Không lỗi port conflict, đóng gói Esbuild</a:t>
                      </a:r>
                      <a:endParaRPr lang="en-US" sz="11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8B0000"/>
          </a:solidFill>
          <a:ln/>
        </p:spPr>
      </p:sp>
      <p:sp>
        <p:nvSpPr>
          <p:cNvPr id="3" name="Text 1"/>
          <p:cNvSpPr/>
          <p:nvPr/>
        </p:nvSpPr>
        <p:spPr>
          <a:xfrm>
            <a:off x="457200" y="137160"/>
            <a:ext cx="8229600" cy="548640"/>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Chương 6: Flow Metrics &amp; Bottleneck</a:t>
            </a:r>
            <a:endParaRPr lang="en-US" sz="2200" dirty="0"/>
          </a:p>
        </p:txBody>
      </p:sp>
      <p:sp>
        <p:nvSpPr>
          <p:cNvPr id="4" name="Shape 2"/>
          <p:cNvSpPr/>
          <p:nvPr/>
        </p:nvSpPr>
        <p:spPr>
          <a:xfrm>
            <a:off x="0" y="6492240"/>
            <a:ext cx="9144000" cy="365760"/>
          </a:xfrm>
          <a:prstGeom prst="rect">
            <a:avLst/>
          </a:prstGeom>
          <a:solidFill>
            <a:srgbClr val="8B0000"/>
          </a:solidFill>
          <a:ln/>
        </p:spPr>
      </p:sp>
      <p:sp>
        <p:nvSpPr>
          <p:cNvPr id="5" name="Text 3"/>
          <p:cNvSpPr/>
          <p:nvPr/>
        </p:nvSpPr>
        <p:spPr>
          <a:xfrm>
            <a:off x="274320" y="6492240"/>
            <a:ext cx="8229600" cy="365760"/>
          </a:xfrm>
          <a:prstGeom prst="rect">
            <a:avLst/>
          </a:prstGeom>
          <a:noFill/>
          <a:ln/>
        </p:spPr>
        <p:txBody>
          <a:bodyPr wrap="square" rtlCol="0" anchor="ctr"/>
          <a:lstStyle/>
          <a:p>
            <a:pPr indent="0" marL="0">
              <a:buNone/>
            </a:pPr>
            <a:r>
              <a:rPr lang="en-US" sz="900" dirty="0">
                <a:solidFill>
                  <a:srgbClr val="FFFFFF"/>
                </a:solidFill>
                <a:latin typeface="Arial" pitchFamily="34" charset="0"/>
                <a:ea typeface="Arial" pitchFamily="34" charset="-122"/>
                <a:cs typeface="Arial" pitchFamily="34" charset="-120"/>
              </a:rPr>
              <a:t>Đại học Bách khoa Hà Nội | Nhóm 10</a:t>
            </a:r>
            <a:endParaRPr lang="en-US" sz="9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274320" y="1188720"/>
          <a:ext cx="8595360" cy="914400"/>
        </p:xfrm>
        <a:graphic>
          <a:graphicData uri="http://schemas.openxmlformats.org/drawingml/2006/table">
            <a:tbl>
              <a:tblPr/>
              <a:tblGrid>
                <a:gridCol w="3657600"/>
                <a:gridCol w="1371600"/>
                <a:gridCol w="1371600"/>
                <a:gridCol w="1371600"/>
              </a:tblGrid>
              <a:tr h="0">
                <a:tc>
                  <a:txBody>
                    <a:bodyPr/>
                    <a:lstStyle/>
                    <a:p>
                      <a:pPr indent="0" marL="0">
                        <a:buNone/>
                      </a:pPr>
                      <a:r>
                        <a:rPr lang="en-US" sz="1100" dirty="0">
                          <a:solidFill>
                            <a:srgbClr val="000000"/>
                          </a:solidFill>
                          <a:latin typeface="Arial" pitchFamily="34" charset="0"/>
                          <a:ea typeface="Arial" pitchFamily="34" charset="-122"/>
                          <a:cs typeface="Arial" pitchFamily="34" charset="-120"/>
                        </a:rPr>
                        <a:t>Task</a:t>
                      </a:r>
                      <a:endParaRPr lang="en-US" sz="11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Ngày nhận</a:t>
                      </a:r>
                      <a:endParaRPr lang="en-US" sz="11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Ngày xong</a:t>
                      </a:r>
                      <a:endParaRPr lang="en-US" sz="11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Lead Time</a:t>
                      </a:r>
                      <a:endParaRPr lang="en-US" sz="11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r>
              <a:tr h="0">
                <a:tc>
                  <a:txBody>
                    <a:bodyPr/>
                    <a:lstStyle/>
                    <a:p>
                      <a:pPr indent="0" marL="0">
                        <a:buNone/>
                      </a:pPr>
                      <a:r>
                        <a:rPr lang="en-US" sz="1100" dirty="0">
                          <a:solidFill>
                            <a:srgbClr val="000000"/>
                          </a:solidFill>
                          <a:latin typeface="Arial" pitchFamily="34" charset="0"/>
                          <a:ea typeface="Arial" pitchFamily="34" charset="-122"/>
                          <a:cs typeface="Arial" pitchFamily="34" charset="-120"/>
                        </a:rPr>
                        <a:t>Tích hợp Gemini 2.5 tư vấn cảm cúm</a:t>
                      </a:r>
                      <a:endParaRPr lang="en-US" sz="11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01/04</a:t>
                      </a:r>
                      <a:endParaRPr lang="en-US" sz="11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05/04</a:t>
                      </a:r>
                      <a:endParaRPr lang="en-US" sz="11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4 ngày</a:t>
                      </a:r>
                      <a:endParaRPr lang="en-US" sz="11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r>
              <a:tr h="0">
                <a:tc>
                  <a:txBody>
                    <a:bodyPr/>
                    <a:lstStyle/>
                    <a:p>
                      <a:pPr indent="0" marL="0">
                        <a:buNone/>
                      </a:pPr>
                      <a:r>
                        <a:rPr lang="en-US" sz="1100" dirty="0">
                          <a:solidFill>
                            <a:srgbClr val="000000"/>
                          </a:solidFill>
                          <a:latin typeface="Arial" pitchFamily="34" charset="0"/>
                          <a:ea typeface="Arial" pitchFamily="34" charset="-122"/>
                          <a:cs typeface="Arial" pitchFamily="34" charset="-120"/>
                        </a:rPr>
                        <a:t>Sửa lỗi ESM URL Scheme trên Windows</a:t>
                      </a:r>
                      <a:endParaRPr lang="en-US" sz="11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03/04</a:t>
                      </a:r>
                      <a:endParaRPr lang="en-US" sz="11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04/04</a:t>
                      </a:r>
                      <a:endParaRPr lang="en-US" sz="11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1 ngày</a:t>
                      </a:r>
                      <a:endParaRPr lang="en-US" sz="11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r>
              <a:tr h="0">
                <a:tc>
                  <a:txBody>
                    <a:bodyPr/>
                    <a:lstStyle/>
                    <a:p>
                      <a:pPr indent="0" marL="0">
                        <a:buNone/>
                      </a:pPr>
                      <a:r>
                        <a:rPr lang="en-US" sz="1100" dirty="0">
                          <a:solidFill>
                            <a:srgbClr val="000000"/>
                          </a:solidFill>
                          <a:latin typeface="Arial" pitchFamily="34" charset="0"/>
                          <a:ea typeface="Arial" pitchFamily="34" charset="-122"/>
                          <a:cs typeface="Arial" pitchFamily="34" charset="-120"/>
                        </a:rPr>
                        <a:t>Tích hợp lưu lịch sử chat SQLite</a:t>
                      </a:r>
                      <a:endParaRPr lang="en-US" sz="11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05/04</a:t>
                      </a:r>
                      <a:endParaRPr lang="en-US" sz="11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10/04</a:t>
                      </a:r>
                      <a:endParaRPr lang="en-US" sz="11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5 ngày</a:t>
                      </a:r>
                      <a:endParaRPr lang="en-US" sz="11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r>
            </a:tbl>
          </a:graphicData>
        </a:graphic>
      </p:graphicFrame>
      <p:sp>
        <p:nvSpPr>
          <p:cNvPr id="7" name="Text 4"/>
          <p:cNvSpPr/>
          <p:nvPr/>
        </p:nvSpPr>
        <p:spPr>
          <a:xfrm>
            <a:off x="548640" y="3200400"/>
            <a:ext cx="7315200" cy="457200"/>
          </a:xfrm>
          <a:prstGeom prst="rect">
            <a:avLst/>
          </a:prstGeom>
          <a:noFill/>
          <a:ln/>
        </p:spPr>
        <p:txBody>
          <a:bodyPr wrap="square" rtlCol="0" anchor="ctr"/>
          <a:lstStyle/>
          <a:p>
            <a:pPr indent="0" marL="0">
              <a:buNone/>
            </a:pPr>
            <a:r>
              <a:rPr lang="en-US" sz="1300" b="1" dirty="0">
                <a:solidFill>
                  <a:srgbClr val="8B0000"/>
                </a:solidFill>
                <a:latin typeface="Arial" pitchFamily="34" charset="0"/>
                <a:ea typeface="Arial" pitchFamily="34" charset="-122"/>
                <a:cs typeface="Arial" pitchFamily="34" charset="-120"/>
              </a:rPr>
              <a:t>Lead Time TB: 3.3 ngày  |  Throughput: 3 task/tuần</a:t>
            </a:r>
            <a:endParaRPr lang="en-US" sz="1300" dirty="0"/>
          </a:p>
        </p:txBody>
      </p:sp>
      <p:sp>
        <p:nvSpPr>
          <p:cNvPr id="8" name="Text 5"/>
          <p:cNvSpPr/>
          <p:nvPr/>
        </p:nvSpPr>
        <p:spPr>
          <a:xfrm>
            <a:off x="548640" y="3931920"/>
            <a:ext cx="8046720" cy="5029200"/>
          </a:xfrm>
          <a:prstGeom prst="rect">
            <a:avLst/>
          </a:prstGeom>
          <a:noFill/>
          <a:ln/>
        </p:spPr>
        <p:txBody>
          <a:bodyPr wrap="square" rtlCol="0" anchor="t"/>
          <a:lstStyle/>
          <a:p>
            <a:pPr marL="342900" indent="-342900">
              <a:spcAft>
                <a:spcPts val="600"/>
              </a:spcAft>
              <a:buSzPct val="100000"/>
              <a:buChar char="•"/>
            </a:pPr>
            <a:r>
              <a:rPr lang="en-US" sz="1400" dirty="0">
                <a:solidFill>
                  <a:srgbClr val="1A1A1A"/>
                </a:solidFill>
                <a:latin typeface="Arial" pitchFamily="34" charset="0"/>
                <a:ea typeface="Arial" pitchFamily="34" charset="-122"/>
                <a:cs typeface="Arial" pitchFamily="34" charset="-120"/>
              </a:rPr>
              <a:t>Bottleneck: Cột Testing - chờ bác sĩ duyệt kịch bản y khoa</a:t>
            </a:r>
            <a:endParaRPr lang="en-US" sz="1400" dirty="0"/>
          </a:p>
          <a:p>
            <a:pPr marL="342900" indent="-342900">
              <a:spcAft>
                <a:spcPts val="600"/>
              </a:spcAft>
              <a:buSzPct val="100000"/>
              <a:buChar char="•"/>
            </a:pPr>
            <a:r>
              <a:rPr lang="en-US" sz="1400" dirty="0">
                <a:solidFill>
                  <a:srgbClr val="1A1A1A"/>
                </a:solidFill>
                <a:latin typeface="Arial" pitchFamily="34" charset="0"/>
                <a:ea typeface="Arial" pitchFamily="34" charset="-122"/>
                <a:cs typeface="Arial" pitchFamily="34" charset="-120"/>
              </a:rPr>
              <a:t>Giải pháp PDCA: Xây dựng 'Bộ quy tắc y tế chuẩn' để Dev tự kiểm tra 80%</a:t>
            </a:r>
            <a:endParaRPr lang="en-US" sz="1400" dirty="0"/>
          </a:p>
          <a:p>
            <a:pPr marL="342900" indent="-342900">
              <a:spcAft>
                <a:spcPts val="600"/>
              </a:spcAft>
              <a:buSzPct val="100000"/>
              <a:buChar char="•"/>
            </a:pPr>
            <a:r>
              <a:rPr lang="en-US" sz="1400" dirty="0">
                <a:solidFill>
                  <a:srgbClr val="1A1A1A"/>
                </a:solidFill>
                <a:latin typeface="Arial" pitchFamily="34" charset="0"/>
                <a:ea typeface="Arial" pitchFamily="34" charset="-122"/>
                <a:cs typeface="Arial" pitchFamily="34" charset="-120"/>
              </a:rPr>
              <a:t>Improvement: Automation Testing, Daily Scrum 15 phút, phân loại rủi ro</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8B0000"/>
          </a:solidFill>
          <a:ln/>
        </p:spPr>
      </p:sp>
      <p:sp>
        <p:nvSpPr>
          <p:cNvPr id="3" name="Text 1"/>
          <p:cNvSpPr/>
          <p:nvPr/>
        </p:nvSpPr>
        <p:spPr>
          <a:xfrm>
            <a:off x="457200" y="137160"/>
            <a:ext cx="8229600" cy="548640"/>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Demo sản phẩm</a:t>
            </a:r>
            <a:endParaRPr lang="en-US" sz="2200" dirty="0"/>
          </a:p>
        </p:txBody>
      </p:sp>
      <p:sp>
        <p:nvSpPr>
          <p:cNvPr id="4" name="Shape 2"/>
          <p:cNvSpPr/>
          <p:nvPr/>
        </p:nvSpPr>
        <p:spPr>
          <a:xfrm>
            <a:off x="0" y="6492240"/>
            <a:ext cx="9144000" cy="365760"/>
          </a:xfrm>
          <a:prstGeom prst="rect">
            <a:avLst/>
          </a:prstGeom>
          <a:solidFill>
            <a:srgbClr val="8B0000"/>
          </a:solidFill>
          <a:ln/>
        </p:spPr>
      </p:sp>
      <p:sp>
        <p:nvSpPr>
          <p:cNvPr id="5" name="Text 3"/>
          <p:cNvSpPr/>
          <p:nvPr/>
        </p:nvSpPr>
        <p:spPr>
          <a:xfrm>
            <a:off x="274320" y="6492240"/>
            <a:ext cx="8229600" cy="365760"/>
          </a:xfrm>
          <a:prstGeom prst="rect">
            <a:avLst/>
          </a:prstGeom>
          <a:noFill/>
          <a:ln/>
        </p:spPr>
        <p:txBody>
          <a:bodyPr wrap="square" rtlCol="0" anchor="ctr"/>
          <a:lstStyle/>
          <a:p>
            <a:pPr indent="0" marL="0">
              <a:buNone/>
            </a:pPr>
            <a:r>
              <a:rPr lang="en-US" sz="900" dirty="0">
                <a:solidFill>
                  <a:srgbClr val="FFFFFF"/>
                </a:solidFill>
                <a:latin typeface="Arial" pitchFamily="34" charset="0"/>
                <a:ea typeface="Arial" pitchFamily="34" charset="-122"/>
                <a:cs typeface="Arial" pitchFamily="34" charset="-120"/>
              </a:rPr>
              <a:t>Đại học Bách khoa Hà Nội | Nhóm 10</a:t>
            </a:r>
            <a:endParaRPr lang="en-US" sz="900" dirty="0"/>
          </a:p>
        </p:txBody>
      </p:sp>
      <p:sp>
        <p:nvSpPr>
          <p:cNvPr id="6" name="Text 4"/>
          <p:cNvSpPr/>
          <p:nvPr/>
        </p:nvSpPr>
        <p:spPr>
          <a:xfrm>
            <a:off x="548640" y="1097280"/>
            <a:ext cx="8046720" cy="5029200"/>
          </a:xfrm>
          <a:prstGeom prst="rect">
            <a:avLst/>
          </a:prstGeom>
          <a:noFill/>
          <a:ln/>
        </p:spPr>
        <p:txBody>
          <a:bodyPr wrap="square" rtlCol="0" anchor="t"/>
          <a:lstStyle/>
          <a:p>
            <a:pPr marL="342900" indent="-342900">
              <a:spcAft>
                <a:spcPts val="600"/>
              </a:spcAft>
              <a:buSzPct val="100000"/>
              <a:buChar char="•"/>
            </a:pPr>
            <a:r>
              <a:rPr lang="en-US" sz="1400" dirty="0">
                <a:solidFill>
                  <a:srgbClr val="1A1A1A"/>
                </a:solidFill>
                <a:latin typeface="Arial" pitchFamily="34" charset="0"/>
                <a:ea typeface="Arial" pitchFamily="34" charset="-122"/>
                <a:cs typeface="Arial" pitchFamily="34" charset="-120"/>
              </a:rPr>
              <a:t>🏠 Trang chủ: Gợi ý nhanh, lịch sử tư vấn</a:t>
            </a:r>
            <a:endParaRPr lang="en-US" sz="1400" dirty="0"/>
          </a:p>
          <a:p>
            <a:pPr marL="342900" indent="-342900">
              <a:spcAft>
                <a:spcPts val="600"/>
              </a:spcAft>
              <a:buSzPct val="100000"/>
              <a:buChar char="•"/>
            </a:pPr>
            <a:r>
              <a:rPr lang="en-US" sz="1400" dirty="0">
                <a:solidFill>
                  <a:srgbClr val="1A1A1A"/>
                </a:solidFill>
                <a:latin typeface="Arial" pitchFamily="34" charset="0"/>
                <a:ea typeface="Arial" pitchFamily="34" charset="-122"/>
                <a:cs typeface="Arial" pitchFamily="34" charset="-120"/>
              </a:rPr>
              <a:t>💬 Chat AI: Tư vấn triệu chứng, đặt lịch khám thông minh</a:t>
            </a:r>
            <a:endParaRPr lang="en-US" sz="1400" dirty="0"/>
          </a:p>
          <a:p>
            <a:pPr marL="342900" indent="-342900">
              <a:spcAft>
                <a:spcPts val="600"/>
              </a:spcAft>
              <a:buSzPct val="100000"/>
              <a:buChar char="•"/>
            </a:pPr>
            <a:r>
              <a:rPr lang="en-US" sz="1400" dirty="0">
                <a:solidFill>
                  <a:srgbClr val="1A1A1A"/>
                </a:solidFill>
                <a:latin typeface="Arial" pitchFamily="34" charset="0"/>
                <a:ea typeface="Arial" pitchFamily="34" charset="-122"/>
                <a:cs typeface="Arial" pitchFamily="34" charset="-120"/>
              </a:rPr>
              <a:t>📷 Gửi ảnh: AI phân tích hình ảnh y khoa (vết thương, đơn thuốc)</a:t>
            </a:r>
            <a:endParaRPr lang="en-US" sz="1400" dirty="0"/>
          </a:p>
          <a:p>
            <a:pPr marL="342900" indent="-342900">
              <a:spcAft>
                <a:spcPts val="600"/>
              </a:spcAft>
              <a:buSzPct val="100000"/>
              <a:buChar char="•"/>
            </a:pPr>
            <a:r>
              <a:rPr lang="en-US" sz="1400" dirty="0">
                <a:solidFill>
                  <a:srgbClr val="1A1A1A"/>
                </a:solidFill>
                <a:latin typeface="Arial" pitchFamily="34" charset="0"/>
                <a:ea typeface="Arial" pitchFamily="34" charset="-122"/>
                <a:cs typeface="Arial" pitchFamily="34" charset="-120"/>
              </a:rPr>
              <a:t>💊 Thuốc: Danh mục + Nhắc nhở uống thuốc hàng ngày</a:t>
            </a:r>
            <a:endParaRPr lang="en-US" sz="1400" dirty="0"/>
          </a:p>
          <a:p>
            <a:pPr marL="342900" indent="-342900">
              <a:spcAft>
                <a:spcPts val="600"/>
              </a:spcAft>
              <a:buSzPct val="100000"/>
              <a:buChar char="•"/>
            </a:pPr>
            <a:r>
              <a:rPr lang="en-US" sz="1400" dirty="0">
                <a:solidFill>
                  <a:srgbClr val="1A1A1A"/>
                </a:solidFill>
                <a:latin typeface="Arial" pitchFamily="34" charset="0"/>
                <a:ea typeface="Arial" pitchFamily="34" charset="-122"/>
                <a:cs typeface="Arial" pitchFamily="34" charset="-120"/>
              </a:rPr>
              <a:t>👤 Hồ sơ: Triệu chứng y khoa cá nhân hóa từ lịch sử chat</a:t>
            </a:r>
            <a:endParaRPr lang="en-US" sz="1400" dirty="0"/>
          </a:p>
          <a:p>
            <a:pPr marL="342900" indent="-342900">
              <a:spcAft>
                <a:spcPts val="600"/>
              </a:spcAft>
              <a:buSzPct val="100000"/>
              <a:buChar char="•"/>
            </a:pPr>
            <a:endParaRPr lang="en-US" sz="1400" dirty="0"/>
          </a:p>
          <a:p>
            <a:pPr marL="342900" indent="-342900">
              <a:spcAft>
                <a:spcPts val="600"/>
              </a:spcAft>
              <a:buSzPct val="100000"/>
              <a:buChar char="•"/>
            </a:pPr>
            <a:r>
              <a:rPr lang="en-US" sz="1400" dirty="0">
                <a:solidFill>
                  <a:srgbClr val="1A1A1A"/>
                </a:solidFill>
                <a:latin typeface="Arial" pitchFamily="34" charset="0"/>
                <a:ea typeface="Arial" pitchFamily="34" charset="-122"/>
                <a:cs typeface="Arial" pitchFamily="34" charset="-120"/>
              </a:rPr>
              <a:t>🔑 Tính năng kỹ thuật nổi bật:</a:t>
            </a:r>
            <a:endParaRPr lang="en-US" sz="1400" dirty="0"/>
          </a:p>
          <a:p>
            <a:pPr marL="342900" indent="-342900">
              <a:spcAft>
                <a:spcPts val="600"/>
              </a:spcAft>
              <a:buSzPct val="100000"/>
              <a:buChar char="•"/>
            </a:pPr>
            <a:r>
              <a:rPr lang="en-US" sz="1400" dirty="0">
                <a:solidFill>
                  <a:srgbClr val="1A1A1A"/>
                </a:solidFill>
                <a:latin typeface="Arial" pitchFamily="34" charset="0"/>
                <a:ea typeface="Arial" pitchFamily="34" charset="-122"/>
                <a:cs typeface="Arial" pitchFamily="34" charset="-120"/>
              </a:rPr>
              <a:t>  • Multi API Key Auto-Switching (không sợ hết quota)</a:t>
            </a:r>
            <a:endParaRPr lang="en-US" sz="1400" dirty="0"/>
          </a:p>
          <a:p>
            <a:pPr marL="342900" indent="-342900">
              <a:spcAft>
                <a:spcPts val="600"/>
              </a:spcAft>
              <a:buSzPct val="100000"/>
              <a:buChar char="•"/>
            </a:pPr>
            <a:r>
              <a:rPr lang="en-US" sz="1400" dirty="0">
                <a:solidFill>
                  <a:srgbClr val="1A1A1A"/>
                </a:solidFill>
                <a:latin typeface="Arial" pitchFamily="34" charset="0"/>
                <a:ea typeface="Arial" pitchFamily="34" charset="-122"/>
                <a:cs typeface="Arial" pitchFamily="34" charset="-120"/>
              </a:rPr>
              <a:t>  • JWT Authentication bảo mật</a:t>
            </a:r>
            <a:endParaRPr lang="en-US" sz="1400" dirty="0"/>
          </a:p>
          <a:p>
            <a:pPr marL="342900" indent="-342900">
              <a:spcAft>
                <a:spcPts val="600"/>
              </a:spcAft>
              <a:buSzPct val="100000"/>
              <a:buChar char="•"/>
            </a:pPr>
            <a:r>
              <a:rPr lang="en-US" sz="1400" dirty="0">
                <a:solidFill>
                  <a:srgbClr val="1A1A1A"/>
                </a:solidFill>
                <a:latin typeface="Arial" pitchFamily="34" charset="0"/>
                <a:ea typeface="Arial" pitchFamily="34" charset="-122"/>
                <a:cs typeface="Arial" pitchFamily="34" charset="-120"/>
              </a:rPr>
              <a:t>  • Docker Compose 1-click deployment</a:t>
            </a:r>
            <a:endParaRPr lang="en-US" sz="1400" dirty="0"/>
          </a:p>
          <a:p>
            <a:pPr marL="342900" indent="-342900">
              <a:spcAft>
                <a:spcPts val="600"/>
              </a:spcAft>
              <a:buSzPct val="100000"/>
              <a:buChar char="•"/>
            </a:pPr>
            <a:r>
              <a:rPr lang="en-US" sz="1400" dirty="0">
                <a:solidFill>
                  <a:srgbClr val="1A1A1A"/>
                </a:solidFill>
                <a:latin typeface="Arial" pitchFamily="34" charset="0"/>
                <a:ea typeface="Arial" pitchFamily="34" charset="-122"/>
                <a:cs typeface="Arial" pitchFamily="34" charset="-120"/>
              </a:rPr>
              <a:t>  • Automated E2E Screenshot Testing</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9144000" cy="6858000"/>
          </a:xfrm>
          <a:prstGeom prst="rect">
            <a:avLst/>
          </a:prstGeom>
          <a:solidFill>
            <a:srgbClr val="8B0000"/>
          </a:solidFill>
          <a:ln/>
        </p:spPr>
      </p:sp>
      <p:sp>
        <p:nvSpPr>
          <p:cNvPr id="3" name="Text 1"/>
          <p:cNvSpPr/>
          <p:nvPr/>
        </p:nvSpPr>
        <p:spPr>
          <a:xfrm>
            <a:off x="457200" y="274320"/>
            <a:ext cx="8229600" cy="731520"/>
          </a:xfrm>
          <a:prstGeom prst="rect">
            <a:avLst/>
          </a:prstGeom>
          <a:noFill/>
          <a:ln/>
        </p:spPr>
        <p:txBody>
          <a:bodyPr wrap="square" rtlCol="0" anchor="ctr"/>
          <a:lstStyle/>
          <a:p>
            <a:pPr algn="ctr" indent="0" marL="0">
              <a:buNone/>
            </a:pPr>
            <a:r>
              <a:rPr lang="en-US" sz="2800" b="1" dirty="0">
                <a:solidFill>
                  <a:srgbClr val="FFFFFF"/>
                </a:solidFill>
                <a:latin typeface="Arial" pitchFamily="34" charset="0"/>
                <a:ea typeface="Arial" pitchFamily="34" charset="-122"/>
                <a:cs typeface="Arial" pitchFamily="34" charset="-120"/>
              </a:rPr>
              <a:t>KẾT LUẬN &amp; CẢM ƠN</a:t>
            </a:r>
            <a:endParaRPr lang="en-US" sz="2800" dirty="0"/>
          </a:p>
        </p:txBody>
      </p:sp>
      <p:sp>
        <p:nvSpPr>
          <p:cNvPr id="4" name="Text 2"/>
          <p:cNvSpPr/>
          <p:nvPr/>
        </p:nvSpPr>
        <p:spPr>
          <a:xfrm>
            <a:off x="731520" y="1188720"/>
            <a:ext cx="7680960" cy="2560320"/>
          </a:xfrm>
          <a:prstGeom prst="rect">
            <a:avLst/>
          </a:prstGeom>
          <a:noFill/>
          <a:ln/>
        </p:spPr>
        <p:txBody>
          <a:bodyPr wrap="square" rtlCol="0" anchor="t"/>
          <a:lstStyle/>
          <a:p>
            <a:pPr indent="0" marL="0">
              <a:spcAft>
                <a:spcPts val="400"/>
              </a:spcAft>
              <a:buNone/>
            </a:pPr>
            <a:r>
              <a:rPr lang="en-US" sz="1300" dirty="0">
                <a:solidFill>
                  <a:srgbClr val="FFFFFF"/>
                </a:solidFill>
                <a:latin typeface="Arial" pitchFamily="34" charset="0"/>
                <a:ea typeface="Arial" pitchFamily="34" charset="-122"/>
                <a:cs typeface="Arial" pitchFamily="34" charset="-120"/>
              </a:rPr>
              <a:t>✅ Áp dụng thành công Agile Scrum 3 Sprint</a:t>
            </a:r>
            <a:pPr indent="0" marL="0">
              <a:spcAft>
                <a:spcPts val="400"/>
              </a:spcAft>
              <a:buNone/>
            </a:pPr>
            <a:r>
              <a:rPr lang="en-US" sz="1300" dirty="0">
                <a:solidFill>
                  <a:srgbClr val="FFFFFF"/>
                </a:solidFill>
                <a:latin typeface="Arial" pitchFamily="34" charset="0"/>
                <a:ea typeface="Arial" pitchFamily="34" charset="-122"/>
                <a:cs typeface="Arial" pitchFamily="34" charset="-120"/>
              </a:rPr>
              <a:t>✅ Design Thinking: Persona → Journey Map → Prototype</a:t>
            </a:r>
            <a:pPr indent="0" marL="0">
              <a:spcAft>
                <a:spcPts val="400"/>
              </a:spcAft>
              <a:buNone/>
            </a:pPr>
            <a:r>
              <a:rPr lang="en-US" sz="1300" dirty="0">
                <a:solidFill>
                  <a:srgbClr val="FFFFFF"/>
                </a:solidFill>
                <a:latin typeface="Arial" pitchFamily="34" charset="0"/>
                <a:ea typeface="Arial" pitchFamily="34" charset="-122"/>
                <a:cs typeface="Arial" pitchFamily="34" charset="-120"/>
              </a:rPr>
              <a:t>✅ Chatbot Full-stack hoạt động hoàn chỉnh</a:t>
            </a:r>
            <a:pPr indent="0" marL="0">
              <a:spcAft>
                <a:spcPts val="400"/>
              </a:spcAft>
              <a:buNone/>
            </a:pPr>
            <a:r>
              <a:rPr lang="en-US" sz="1300" dirty="0">
                <a:solidFill>
                  <a:srgbClr val="FFFFFF"/>
                </a:solidFill>
                <a:latin typeface="Arial" pitchFamily="34" charset="0"/>
                <a:ea typeface="Arial" pitchFamily="34" charset="-122"/>
                <a:cs typeface="Arial" pitchFamily="34" charset="-120"/>
              </a:rPr>
              <a:t>✅ 100% User Stories hoàn thành + E2E Testing</a:t>
            </a:r>
            <a:pPr indent="0" marL="0">
              <a:spcAft>
                <a:spcPts val="200"/>
              </a:spcAft>
              <a:buNone/>
            </a:pPr>
            <a:pPr indent="0" marL="0">
              <a:spcAft>
                <a:spcPts val="400"/>
              </a:spcAft>
              <a:buNone/>
            </a:pPr>
            <a:r>
              <a:rPr lang="en-US" sz="1200" i="1" dirty="0">
                <a:solidFill>
                  <a:srgbClr val="FFFFFF"/>
                </a:solidFill>
                <a:latin typeface="Arial" pitchFamily="34" charset="0"/>
                <a:ea typeface="Arial" pitchFamily="34" charset="-122"/>
                <a:cs typeface="Arial" pitchFamily="34" charset="-120"/>
              </a:rPr>
              <a:t>Hướng phát triển: Voice AI, Telemedicine, HIS/EMR</a:t>
            </a:r>
            <a:endParaRPr lang="en-US" sz="1300" dirty="0"/>
          </a:p>
        </p:txBody>
      </p:sp>
      <p:sp>
        <p:nvSpPr>
          <p:cNvPr id="5" name="Text 3"/>
          <p:cNvSpPr/>
          <p:nvPr/>
        </p:nvSpPr>
        <p:spPr>
          <a:xfrm>
            <a:off x="457200" y="4114800"/>
            <a:ext cx="8229600" cy="91440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CẢM ƠN THẦY CÔ ĐÃ LẮNG NGHE!</a:t>
            </a:r>
            <a:endParaRPr lang="en-US" sz="3000" dirty="0"/>
          </a:p>
        </p:txBody>
      </p:sp>
      <p:sp>
        <p:nvSpPr>
          <p:cNvPr id="6" name="Text 4"/>
          <p:cNvSpPr/>
          <p:nvPr/>
        </p:nvSpPr>
        <p:spPr>
          <a:xfrm>
            <a:off x="457200" y="5120640"/>
            <a:ext cx="8229600" cy="914400"/>
          </a:xfrm>
          <a:prstGeom prst="rect">
            <a:avLst/>
          </a:prstGeom>
          <a:noFill/>
          <a:ln/>
        </p:spPr>
        <p:txBody>
          <a:bodyPr wrap="square" rtlCol="0" anchor="ctr"/>
          <a:lstStyle/>
          <a:p>
            <a:pPr algn="ctr" indent="0" marL="0">
              <a:lnSpc>
                <a:spcPct val="140000"/>
              </a:lnSpc>
              <a:buNone/>
            </a:pPr>
            <a:r>
              <a:rPr lang="en-US" sz="1300" dirty="0">
                <a:solidFill>
                  <a:srgbClr val="FFFFFF"/>
                </a:solidFill>
                <a:latin typeface="Arial" pitchFamily="34" charset="0"/>
                <a:ea typeface="Arial" pitchFamily="34" charset="-122"/>
                <a:cs typeface="Arial" pitchFamily="34" charset="-120"/>
              </a:rPr>
              <a:t>Nhóm 10 - Chatbot Phòng Khám Gia Đình</a:t>
            </a:r>
            <a:endParaRPr lang="en-US" sz="1300" dirty="0"/>
          </a:p>
          <a:p>
            <a:pPr algn="ctr" indent="0" marL="0">
              <a:lnSpc>
                <a:spcPct val="140000"/>
              </a:lnSpc>
              <a:buNone/>
            </a:pPr>
            <a:r>
              <a:rPr lang="en-US" sz="1300" dirty="0">
                <a:solidFill>
                  <a:srgbClr val="FFFFFF"/>
                </a:solidFill>
                <a:latin typeface="Arial" pitchFamily="34" charset="0"/>
                <a:ea typeface="Arial" pitchFamily="34" charset="-122"/>
                <a:cs typeface="Arial" pitchFamily="34" charset="-120"/>
              </a:rPr>
              <a:t>GVHD: TS. Vũ Thị Hương Giang, TS. Trần Nhật Hóa</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Nhóm 10</dc:creator>
  <cp:lastModifiedBy>Nhóm 10</cp:lastModifiedBy>
  <cp:revision>1</cp:revision>
  <dcterms:created xsi:type="dcterms:W3CDTF">2026-04-24T16:35:41Z</dcterms:created>
  <dcterms:modified xsi:type="dcterms:W3CDTF">2026-04-24T16:35:41Z</dcterms:modified>
</cp:coreProperties>
</file>