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101"/>
    <p:sldId id="257" r:id="rId102"/>
    <p:sldId id="258" r:id="rId103"/>
    <p:sldId id="259" r:id="rId104"/>
    <p:sldId id="260" r:id="rId105"/>
    <p:sldId id="261" r:id="rId106"/>
    <p:sldId id="262" r:id="rId107"/>
    <p:sldId id="263" r:id="rId108"/>
    <p:sldId id="264" r:id="rId109"/>
    <p:sldId id="265" r:id="rId110"/>
    <p:sldId id="266" r:id="rId111"/>
    <p:sldId id="267" r:id="rId112"/>
    <p:sldId id="268" r:id="rId113"/>
    <p:sldId id="269" r:id="rId114"/>
    <p:sldId id="270" r:id="rId115"/>
    <p:sldId id="271" r:id="rId116"/>
    <p:sldId id="272" r:id="rId117"/>
    <p:sldId id="273" r:id="rId118"/>
    <p:sldId id="274" r:id="rId119"/>
    <p:sldId id="275" r:id="rId120"/>
    <p:sldId id="276" r:id="rId121"/>
    <p:sldId id="277" r:id="rId122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0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1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9" Type="http://schemas.openxmlformats.org/officeDocument/2006/relationships/notesMaster" Target="notesMasters/notesMaster1.xml"/>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<Relationship Id="rId105" Type="http://schemas.openxmlformats.org/officeDocument/2006/relationships/slide" Target="slides/slide5.xml"/><Relationship Id="rId106" Type="http://schemas.openxmlformats.org/officeDocument/2006/relationships/slide" Target="slides/slide6.xml"/><Relationship Id="rId107" Type="http://schemas.openxmlformats.org/officeDocument/2006/relationships/slide" Target="slides/slide7.xml"/><Relationship Id="rId108" Type="http://schemas.openxmlformats.org/officeDocument/2006/relationships/slide" Target="slides/slide8.xml"/><Relationship Id="rId109" Type="http://schemas.openxmlformats.org/officeDocument/2006/relationships/slide" Target="slides/slide9.xml"/><Relationship Id="rId110" Type="http://schemas.openxmlformats.org/officeDocument/2006/relationships/slide" Target="slides/slide10.xml"/><Relationship Id="rId111" Type="http://schemas.openxmlformats.org/officeDocument/2006/relationships/slide" Target="slides/slide11.xml"/><Relationship Id="rId112" Type="http://schemas.openxmlformats.org/officeDocument/2006/relationships/slide" Target="slides/slide12.xml"/><Relationship Id="rId113" Type="http://schemas.openxmlformats.org/officeDocument/2006/relationships/slide" Target="slides/slide13.xml"/><Relationship Id="rId114" Type="http://schemas.openxmlformats.org/officeDocument/2006/relationships/slide" Target="slides/slide14.xml"/><Relationship Id="rId115" Type="http://schemas.openxmlformats.org/officeDocument/2006/relationships/slide" Target="slides/slide15.xml"/><Relationship Id="rId116" Type="http://schemas.openxmlformats.org/officeDocument/2006/relationships/slide" Target="slides/slide16.xml"/><Relationship Id="rId117" Type="http://schemas.openxmlformats.org/officeDocument/2006/relationships/slide" Target="slides/slide17.xml"/><Relationship Id="rId118" Type="http://schemas.openxmlformats.org/officeDocument/2006/relationships/slide" Target="slides/slide18.xml"/><Relationship Id="rId119" Type="http://schemas.openxmlformats.org/officeDocument/2006/relationships/slide" Target="slides/slide19.xml"/><Relationship Id="rId120" Type="http://schemas.openxmlformats.org/officeDocument/2006/relationships/slide" Target="slides/slide20.xml"/><Relationship Id="rId121" Type="http://schemas.openxmlformats.org/officeDocument/2006/relationships/slide" Target="slides/slide21.xml"/><Relationship Id="rId122" Type="http://schemas.openxmlformats.org/officeDocument/2006/relationships/slide" Target="slides/slide2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7070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015A8-7EA5-B9BC-FCFA-98C0A222F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FF262B-9296-3C25-B59C-849C54F66F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1F0BCC-C36A-D98F-B218-B69EC783B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2F3CB-3783-FF3B-E8EE-861F014514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369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2C76F-B64A-8ED9-32B1-9365CF8CE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1AB78-681A-EBD4-51D7-FD0404EDE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84C209-7C2C-BEA8-D0C0-B9D73BB75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A3A5C-5C86-C2FC-23A7-3889427150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169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BECC9-0069-62AF-1E4E-FC8484D5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30FA29-5E59-DAA0-EF78-2655FCF47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D5608-AED0-C60E-3C26-1A4D883A8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38AC7-4AD0-B268-A4C0-18F76ABD08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08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3152"/>
            <a:ext cx="54864" cy="671169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9089136" y="73152"/>
            <a:ext cx="54864" cy="671169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HỌC BÁCH KHOA HÀ NỘI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E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Viện Công nghệ Thông tin và Truyền thông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1371600"/>
            <a:ext cx="36576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459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</a:t>
            </a:r>
            <a:endParaRPr lang="en-US" sz="3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PHÒNG KHÁM GIA ĐÌNH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 Trợ lý Y khoa Thông minh  🤖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3931920"/>
            <a:ext cx="36576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4114800"/>
            <a:ext cx="6400800" cy="548640"/>
          </a:xfrm>
          <a:prstGeom prst="roundRect">
            <a:avLst>
              <a:gd name="adj" fmla="val 16667"/>
            </a:avLst>
          </a:prstGeom>
          <a:solidFill>
            <a:srgbClr val="6B000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4114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Môn: Phương pháp Agile và Tư duy Thiết kế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GVHD: TS. Vũ Thị Hương Giang  •  TS. Trần Nhật Hóa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5303520"/>
            <a:ext cx="5486400" cy="1188720"/>
          </a:xfrm>
          <a:prstGeom prst="roundRect">
            <a:avLst>
              <a:gd name="adj" fmla="val 7692"/>
            </a:avLst>
          </a:prstGeom>
          <a:solidFill>
            <a:srgbClr val="6B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5257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55778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Nguyễn Đồng Hoàng</a:t>
            </a:r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- 20252616M    </a:t>
            </a:r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Nhật Linh</a:t>
            </a:r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- 20252732M
</a:t>
            </a:r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Vũ Xuân Dự</a:t>
            </a:r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- 20252731M    </a:t>
            </a:r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Kiều Thái Thịnh</a:t>
            </a:r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- 20252605M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LỤC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học Bách khoa Hà Nội | </a:t>
            </a:r>
            <a:r>
              <a:rPr lang="en-US" sz="9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1: Tổng quan Agile &amp; Design Thinking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2: Nguyên lý phát triển linh hoạt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3: Thấu cảm và xác định vấn đề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4: Hình thành ý tưởng, Prototype &amp; Kiểm thử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5: Triển khai phát triển &amp; Tích hợp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6: Vận hành và cải tiến liên tục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sản phẩm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1: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Agile &amp; Design Thinking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học Bách khoa Hà Nội | </a:t>
            </a:r>
            <a:r>
              <a:rPr lang="en-US" sz="9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2BA377-635F-AACE-C79D-56114D730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245" y="930592"/>
            <a:ext cx="5731510" cy="4996815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90FB5621-68CC-8B13-CAC5-EF17FDF6A7CF}"/>
              </a:ext>
            </a:extLst>
          </p:cNvPr>
          <p:cNvSpPr/>
          <p:nvPr/>
        </p:nvSpPr>
        <p:spPr>
          <a:xfrm>
            <a:off x="2912444" y="6090586"/>
            <a:ext cx="3319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Skateholder</a:t>
            </a: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Mapping</a:t>
            </a:r>
          </a:p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70614-4163-2F2D-42D9-C780F57DC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86BC940-1431-F3A9-3832-9F716757B86E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254D1B-F707-27F4-04CC-81D623B089F3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1: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Agile &amp; Design Thinking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6CACD1E-3328-7B8A-489A-5EFF8A4C68FA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DE9746-6F39-4A55-C167-1F3E8CB8C194}"/>
              </a:ext>
            </a:extLst>
          </p:cNvPr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học Bách khoa Hà Nội | </a:t>
            </a:r>
            <a:r>
              <a:rPr lang="en-US" sz="9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F1F2484-7908-AED9-D3D6-523B523D4305}"/>
              </a:ext>
            </a:extLst>
          </p:cNvPr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710F0F0E-355C-2E77-A8F3-028982E7460E}"/>
              </a:ext>
            </a:extLst>
          </p:cNvPr>
          <p:cNvSpPr/>
          <p:nvPr/>
        </p:nvSpPr>
        <p:spPr>
          <a:xfrm>
            <a:off x="635267" y="971049"/>
            <a:ext cx="3319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Problem List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488572-0942-BAB9-DB9E-A657A52D6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380" y="1366186"/>
            <a:ext cx="5745480" cy="488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432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39A91-A18C-EB4F-8332-4483EE710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0CA291E-79A5-3D3A-77B2-F057DE940D49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797E2B-9E9F-73C4-CFD2-9EAA6CD7D10E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1: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Agile &amp; Design Thinking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083DA55-8148-9650-38B4-79A12DFA5F92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50C2803-4B05-E00E-F59A-BE4BAD421785}"/>
              </a:ext>
            </a:extLst>
          </p:cNvPr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học Bách khoa Hà Nội | </a:t>
            </a:r>
            <a:r>
              <a:rPr lang="en-US" sz="9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B26D65A-9A13-C331-F11A-AA20BEF1A2A4}"/>
              </a:ext>
            </a:extLst>
          </p:cNvPr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C9B60E75-A1A9-FC24-6EE3-25FE7A9A6E47}"/>
              </a:ext>
            </a:extLst>
          </p:cNvPr>
          <p:cNvSpPr/>
          <p:nvPr/>
        </p:nvSpPr>
        <p:spPr>
          <a:xfrm>
            <a:off x="635267" y="971049"/>
            <a:ext cx="3319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9D1148-6F4C-47C8-6B3C-3DDA239C2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67" y="1198132"/>
            <a:ext cx="7507706" cy="689036"/>
          </a:xfrm>
          <a:prstGeom prst="rect">
            <a:avLst/>
          </a:prstGeom>
        </p:spPr>
      </p:pic>
      <p:pic>
        <p:nvPicPr>
          <p:cNvPr id="1026" name="Picture 2" descr="FV@HOME: Mang dịch vụ chăm sóc sức khỏe đẳng cấp về nhà - Chỉ với một chạm  - Bệnh Viện FV">
            <a:extLst>
              <a:ext uri="{FF2B5EF4-FFF2-40B4-BE49-F238E27FC236}">
                <a16:creationId xmlns:a16="http://schemas.microsoft.com/office/drawing/2014/main" id="{5E3D70BA-E91B-2956-BEEB-4CDE10555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593" y="2485327"/>
            <a:ext cx="4330816" cy="2881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807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2: Nguyên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lý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triển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học Bách khoa Hà Nội | </a:t>
            </a:r>
            <a:r>
              <a:rPr lang="en-US" sz="9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</a:t>
            </a:r>
            <a:endParaRPr lang="en-US" sz="9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D08AA52-65D1-4DA3-58A4-E09F32486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639262"/>
              </p:ext>
            </p:extLst>
          </p:nvPr>
        </p:nvGraphicFramePr>
        <p:xfrm>
          <a:off x="834189" y="1532021"/>
          <a:ext cx="7475623" cy="4729996"/>
        </p:xfrm>
        <a:graphic>
          <a:graphicData uri="http://schemas.openxmlformats.org/drawingml/2006/table">
            <a:tbl>
              <a:tblPr firstRow="1" firstCol="1" bandRow="1"/>
              <a:tblGrid>
                <a:gridCol w="2127210">
                  <a:extLst>
                    <a:ext uri="{9D8B030D-6E8A-4147-A177-3AD203B41FA5}">
                      <a16:colId xmlns:a16="http://schemas.microsoft.com/office/drawing/2014/main" val="2960331644"/>
                    </a:ext>
                  </a:extLst>
                </a:gridCol>
                <a:gridCol w="972439">
                  <a:extLst>
                    <a:ext uri="{9D8B030D-6E8A-4147-A177-3AD203B41FA5}">
                      <a16:colId xmlns:a16="http://schemas.microsoft.com/office/drawing/2014/main" val="2750446191"/>
                    </a:ext>
                  </a:extLst>
                </a:gridCol>
                <a:gridCol w="4375974">
                  <a:extLst>
                    <a:ext uri="{9D8B030D-6E8A-4147-A177-3AD203B41FA5}">
                      <a16:colId xmlns:a16="http://schemas.microsoft.com/office/drawing/2014/main" val="3890137110"/>
                    </a:ext>
                  </a:extLst>
                </a:gridCol>
              </a:tblGrid>
              <a:tr h="2539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Vai trò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Số người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Người phụ trách chính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106141"/>
                  </a:ext>
                </a:extLst>
              </a:tr>
              <a:tr h="527764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Product Owner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Đại diện nghiệp vụ/định hướng sản phẩm HealthCare AI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813114"/>
                  </a:ext>
                </a:extLst>
              </a:tr>
              <a:tr h="253942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Scrum Master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Điều phối quy trình Scrum và gỡ blocker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437286"/>
                  </a:ext>
                </a:extLst>
              </a:tr>
              <a:tr h="527764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Business Analyst / UX Researcher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Thu thập insight, xây user flow, kiểm chứng nhu cầu người dùng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37042"/>
                  </a:ext>
                </a:extLst>
              </a:tr>
              <a:tr h="527764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UI/UX Designer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Thiết kế màn hình, chatbot flow và trải nghiệm cho người dùng ít rành công nghệ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894493"/>
                  </a:ext>
                </a:extLst>
              </a:tr>
              <a:tr h="527764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AI / Backend Developer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Xử lý logic chatbot, dữ liệu hồ sơ, tủ thuốc, chỉ số và tích hợp dịch vụ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971218"/>
                  </a:ext>
                </a:extLst>
              </a:tr>
              <a:tr h="527764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Frontend / Mobile / Chatbot Developer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Xây giao diện người dùng và luồng hội thoại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2245248"/>
                  </a:ext>
                </a:extLst>
              </a:tr>
              <a:tr h="527764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QA / Tester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Kiểm thử logic, hành trình người dùng và các tình huống rủi ro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006825"/>
                  </a:ext>
                </a:extLst>
              </a:tr>
              <a:tr h="527764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Clinical Advisor (part-time)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0.5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Rà soát nội dung y khoa cơ bản, cảnh báo và ngưỡng chuyển tuyến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234533"/>
                  </a:ext>
                </a:extLst>
              </a:tr>
              <a:tr h="527764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DevOps / System Admin (part-time)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0.5-1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Deploy, monitoring, logs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và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bảo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mật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hệ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thống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31940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43A0F39-5442-B0AE-7894-94EDCDC0687E}"/>
              </a:ext>
            </a:extLst>
          </p:cNvPr>
          <p:cNvSpPr txBox="1"/>
          <p:nvPr/>
        </p:nvSpPr>
        <p:spPr>
          <a:xfrm>
            <a:off x="2598821" y="976782"/>
            <a:ext cx="3946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Scrum Team 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DECB2-B7EA-0D18-1F56-248509C01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0AB841-B1BF-2651-3AD2-874E8304D337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E1E532-FF99-CE6D-EFA1-CAEB730B16B4}"/>
              </a:ext>
            </a:extLst>
          </p:cNvPr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2: Nguyên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lý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triển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B9333BE-F8BE-805D-E692-77AF2D6CBF18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D4180B2-8471-38B9-14A6-2BBDF50F2AD4}"/>
              </a:ext>
            </a:extLst>
          </p:cNvPr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học Bách khoa Hà Nội | </a:t>
            </a:r>
            <a:r>
              <a:rPr lang="en-US" sz="9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</a:t>
            </a:r>
            <a:endParaRPr lang="en-US" sz="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226616-BAC2-3131-2C00-F5BA4587CC1D}"/>
              </a:ext>
            </a:extLst>
          </p:cNvPr>
          <p:cNvSpPr txBox="1"/>
          <p:nvPr/>
        </p:nvSpPr>
        <p:spPr>
          <a:xfrm>
            <a:off x="3192378" y="1000381"/>
            <a:ext cx="3946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Working Agreement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80DE85-4995-E009-864A-2AD8AE0E0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05" y="1508659"/>
            <a:ext cx="7844590" cy="454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113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3: User Persona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học Bách khoa Hà Nội | Nhóm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1 - Chị Lan (32 tuổi, nhân viên văn phòng):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Bận rộn, cần tư vấn nhanh triệu chứng cho con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Pain: Không biết khi nào cần đưa con đi khám ngay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2 - Chú Chiến (62 tuổi, hưu trí):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Bệnh mãn tính, cần nhắc uống thuốc hàng ngày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Pain: Khó dùng app phức tạp, chữ nhỏ, nhiều bước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3 - Bác sĩ Hùng (45 tuổi, BS gia đình):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Cần chatbot hỗ trợ sàng lọc, không lấn sân chẩn đoán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3: Customer Journey 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học Bách khoa Hà Nội | Nhóm 5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137160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Giai đoạn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Hành vi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Cảm xúc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Pain Point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Nhận biết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Tìm kiếm Google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 lắng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Thông tin nhiễu, không tin cậy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Tương tác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 với 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 vọng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 trả lời chung chung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Đặt lịch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Chọn BS, phòng khám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Hài lòng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Quy trình phức tạp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Theo dõi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Nhắc thuốc, xem hồ sơ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Yên tâm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Quên uống thuốc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3: POV &amp; How Might We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học Bách khoa Hà Nội | Nhóm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914400"/>
          </a:xfrm>
          <a:prstGeom prst="round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POV: Người chăm sóc gia đình cần một công cụ đáng tin cậy để tư vấn sức khỏe ban đầu vì họ không có chuyên môn y tế và lo sợ bỏ lỡ dấu hiệu nguy hiểm.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HMW1: Làm sao để chatbot tư vấn triệu chứng chính xác mà không thay thế bác sĩ?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HMW2: Làm sao để người cao tuổi dễ dàng sử dụng chatbot?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HMW3: Làm sao để tích hợp nhắc uống thuốc một cách tự nhiên?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HMW4: Làm sao để đặt lịch khám nhanh chóng qua hội thoại?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4: Brainstorming &amp; Impact-Feasibility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học Bách khoa Hà Nội | Nhóm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Ý tưởng đã brainstorm: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✅ Chat AI tư vấn triệu chứng (Impact: Cao | Feasibility: Cao)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✅ Đặt lịch khám qua hội thoại (Impact: Cao | Feasibility: Cao)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✅ Nhắc uống thuốc hàng ngày (Impact: TB | Feasibility: Cao)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✅ Phân tích hình ảnh y khoa (Impact: Cao | Feasibility: TB)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⬜ Tư vấn qua giọng nói (Impact: Cao | Feasibility: Thấp)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⬜ Kết nối Video Call bác sĩ (Impact: Cao | Feasibility: Thấp)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Lựa chọn: 4 ý tưởng đánh dấu ✅ cho MVP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4: Chatbot Prototype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học Bách khoa Hà Nội | Nhóm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sử dụng: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Frontend: React + TypeScript + Vite + TailwindCSS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Backend: Node.js + Express + Drizzle ORM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Database: SQLite (file-based, nhẹ)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AI Engine: Google Gemini 2.5 Flash API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Auth: JWT (JSON Web Token)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Deploy: Docker + Docker Compose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chính: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1. Đăng ký / Đăng nhập bảo mật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2. Chat AI tư vấn triệu chứng &amp; đặt lịch khám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3. Gửi hình ảnh y khoa để AI phân tích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4. Danh mục thuốc &amp; Nhắc nhở uống thuốc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5. Hồ sơ sức khỏe cá nhân hóa bằng AI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4: Usability Testing Report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học Bách khoa Hà Nội | Nhóm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Phương pháp: Automated E2E Testing với Puppeteer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bị giả lập: iPhone 14 Pro Max (390x844, 2x)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Kịch bản đã test thành công: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✅ Đăng ký tài khoản mới → Đăng nhập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✅ Chat AI: Hỏi triệu chứng (đau đầu, sốt 38.5°C)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✅ Chat AI: Đặt lịch khám (chọn BS Quang Hùng)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✅ Chat AI: Hỏi liều lượng Paracetamol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✅ Duyệt danh mục thuốc &amp; đặt lịch nhắc nhở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✅ Xem hồ sơ sức khỏe cá nhân hóa bằng AI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100% User Stories đạt Acceptance Criteria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 Product Vision &amp; Themes → Epics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ĐHBK Hà Nội | Chương 5 – Triển khai Agile | Nhóm 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822960"/>
          </a:xfrm>
          <a:prstGeom prst="round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Vision: Tạo ra "Trợ lý Y khoa số" trực 24/7, giúp gia đình tự chẩn đoán sơ bộ và kết nối dịch vụ y tế nhờ AI tạo sinh (Google Gemini).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1 – AI Chatbot &amp; Trợ lý CSSK: Tư vấn triệu chứng, phân tích ảnh y khoa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2 – Quản lý Khám bệnh: Đặt lịch bác sĩ, quy trình cấp cứu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3 – Hồ sơ Sức khỏe: Lịch sử khám, nhắc thuốc, chỉ số cá nhân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rã Epics: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Epic 1.1: Trợ lý Tra cứu Y tế Thông minh (US-01, US-02)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Epic 2.1: Đặt Lịch Khám Điện Tử (US-03, US-04)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Epic 3.1: Dashboard Hồ sơ Sức khỏe (US-05, US-06, US-07)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 User Stories &amp; Acceptance Criteria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ĐHBK Hà Nội | Chương 5 – Triển khai Agile | Nhóm 5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926080"/>
                <a:gridCol w="3657600"/>
                <a:gridCol w="548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Story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 (Given-When-Then)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 bệnh nhắn tin mô tả triệu chứng → nhận tư vấn 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gửi tin → Then AI phản hồi kèm cảnh báo y tế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 cao tuổi gửi hình ảnh vết thương/toa thuốc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upload ảnh → Then AI trích xuất + chẩn đoán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Đặt lịch khám qua hội thoại (không điền form)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nói "đặt lịch" → Then Bot hỏi ngày/BS + lưu 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Xem lại lịch sử chat / tư vấn cũ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Then hiển thị danh sách buổi trò chuyện theo thời gian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Story Points Sprint 1: 21 SP  |  Velocity kỳ vọng: 20 SP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 Prioritized Backlog &amp; Product Roadmap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ĐHBK Hà Nội | Chương 5 – Triển khai Agile | Nhóm 5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51560"/>
          <a:ext cx="8778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200400"/>
                <a:gridCol w="731520"/>
                <a:gridCol w="731520"/>
                <a:gridCol w="7315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Chức năng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Effort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 AI tư vấn triệu chứng (Gemini)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 – Sprint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Upload + Phân tích ảnh (Vision AI)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 – Sprint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Đặt lịch khám qua hội thoại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 – Sprint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 Hồ sơ + Nhắc thuốc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 – Sprint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Voice Input (Speech-to-Text)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 – Sau MVP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 (3 Releases / 1 tháng):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1.0 (MVP – Tuần 2): Kiến trúc React+Express, Chat AI Text+Image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1.1 (Alpha – Tuần 3): Dashboard, Lịch sử chat, Voice UI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2.0 (Beta – Tuần 4): Đóng gói, Testing, Fix bugs, Demo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 Sprint 1 Planning &amp; Backlog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ĐHBK Hà Nội | Chương 5 – Triển khai Agile | Nhóm 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640080"/>
          </a:xfrm>
          <a:prstGeom prst="round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Goal: Hoàn thiện API AI + Giao diện Chat tích hợp Google Gemini 2.5 Flash xử lý văn bản &amp; hình ảnh đa phương thức.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828800"/>
          <a:ext cx="8778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114800"/>
                <a:gridCol w="13716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Mô tả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Kỹ năng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T-1.1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Khởi tạo Monorepo: Vite (React+TS) + Express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Done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T-1.2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System TailwindCSS Medical (#0d9488)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Done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T-1.3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Cài @google/genai, bảo mật API Key (dotenv)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Done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T-1.4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/api/chat với System Prompt y khoa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Done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T-1.5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Consultation.tsx: gửi Text + Base64 Image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Full-stack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Done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T-1.6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Floating Input Bar (Glassmorphism mobile)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Done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Duration: 7 ngày  |  Velocity: 20 SP  |  6/6 Tasks Done ✅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5.5–5.6 Scrum Events &amp; Tích hợp Khám phá–Triển khai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ĐHBK Hà Nội | Chương 5 – Triển khai Agile | Nhóm 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Scrum: 15 phút/sáng – 3 câu hỏi (Đã làm? Sẽ làm? Blocker?)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Review: Demo Chat AI chạy trên localhost, kiểm chứng phân tích ảnh y khoa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Retrospective: Cần Loading Indicator, cải thiện thời gian phản hồi AI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Discovery (Khám phá liên tục):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Thử nghiệm với bạn học + gia đình → Phát hiện phải có Cảnh báo Y tế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Mọi câu chat AI đều kèm: "Đây chỉ là tư vấn, cần đến cơ sở y tế"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Delivery (Triển khai linh hoạt):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Thay đổi yêu cầu y khoa → Sửa System Prompt → AI áp dụng ngay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Build (vite build + esbuild) → Demo mọi lúc trên mọi thiết bị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Multi API Key Auto-Switching: không sợ hết quota Gemini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6: Kanban Board &amp; WIP Limits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học Bách khoa Hà Nội | Nhóm 5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6035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Trạng thái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Chính sách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Backlog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∞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tuân thủ User + Need + Insight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 to Dev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Phải có AC + xác nhận Tech Lead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Development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Pull System, không nhận task mới khi chưa xong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Kịch bản y tế phải có Disclaimer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∞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lỗi port conflict, đóng gói Esbuild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6: Flow Metrics &amp; Bottleneck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học Bách khoa Hà Nội | Nhóm 5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Ngày nhận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Ngày xong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 Time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Tích hợp Gemini 2.5 tư vấn cảm cúm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01/04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05/04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ngày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Sửa lỗi ESM URL Scheme trên Windows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03/04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04/04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ngày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Tích hợp lưu lịch sử chat SQLite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05/04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ngày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 TB: 3.3 ngày  |  Throughput: 3 task/tuần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Bottleneck: Cột Testing - chờ bác sĩ duyệt kịch bản y khoa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 PDCA: Xây dựng 'Bộ quy tắc y tế chuẩn' để Dev tự kiểm tra 80%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Improvement: Automation Testing, Daily Scrum 15 phút, phân loại rủi ro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sản phẩm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học Bách khoa Hà Nội | Nhóm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Trang chủ: Gợi ý nhanh, lịch sử tư vấn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Chat AI: Tư vấn triệu chứng, đặt lịch khám thông minh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Gửi ảnh: AI phân tích hình ảnh y khoa (vết thương, đơn thuốc)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💊 Thuốc: Danh mục + Nhắc nhở uống thuốc hàng ngày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Hồ sơ: Triệu chứng y khoa cá nhân hóa từ lịch sử chat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Tính năng kỹ thuật nổi bật: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Multi API Key Auto-Switching (không sợ hết quota)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JWT Authentication bảo mật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Docker Compose 1-click deployment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Automated E2E Screenshot Testing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3152"/>
            <a:ext cx="54864" cy="671169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9089136" y="73152"/>
            <a:ext cx="54864" cy="671169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&amp; CẢM ƠN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286000" y="1005840"/>
            <a:ext cx="4572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18872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Áp dụng thành công Agile Scrum 3 Sprint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Design Thinking: Persona → Journey Map → Prototype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Chatbot Full-stack hoạt động hoàn chỉnh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100% User Stories hoàn thành + E2E Testing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3200400"/>
            <a:ext cx="6400800" cy="640080"/>
          </a:xfrm>
          <a:prstGeom prst="roundRect">
            <a:avLst>
              <a:gd name="adj" fmla="val 14286"/>
            </a:avLst>
          </a:prstGeom>
          <a:solidFill>
            <a:srgbClr val="6B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2004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E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Hướng phát triển: Voice AI  •  Telemedicine  •  HIS/EMR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4114800"/>
            <a:ext cx="4572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2976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THẦY CÔ</a:t>
            </a:r>
            <a:endParaRPr lang="en-US" sz="3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LẮNG NGHE!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2743200" y="5577840"/>
            <a:ext cx="36576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5 — Chatbot Phòng Khám Gia Đình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GVHD: TS. Vũ Thị Hương Giang  •  TS. Trần Nhật Hóa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419</Words>
  <Application>Microsoft Office PowerPoint</Application>
  <PresentationFormat>On-screen Show (4:3)</PresentationFormat>
  <Paragraphs>70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Nhóm 10</dc:creator>
  <cp:lastModifiedBy>Thịnh Kiều Thái</cp:lastModifiedBy>
  <cp:revision>3</cp:revision>
  <dcterms:created xsi:type="dcterms:W3CDTF">2026-04-24T16:35:41Z</dcterms:created>
  <dcterms:modified xsi:type="dcterms:W3CDTF">2026-04-24T17:11:51Z</dcterms:modified>
</cp:coreProperties>
</file>